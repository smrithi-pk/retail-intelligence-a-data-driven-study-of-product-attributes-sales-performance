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66" r:id="rId3"/>
    <p:sldId id="269" r:id="rId4"/>
    <p:sldId id="270" r:id="rId5"/>
    <p:sldId id="268" r:id="rId6"/>
    <p:sldId id="259" r:id="rId7"/>
    <p:sldId id="271" r:id="rId8"/>
    <p:sldId id="272" r:id="rId9"/>
    <p:sldId id="273" r:id="rId10"/>
    <p:sldId id="274" r:id="rId11"/>
    <p:sldId id="276" r:id="rId12"/>
    <p:sldId id="280" r:id="rId13"/>
    <p:sldId id="275" r:id="rId14"/>
    <p:sldId id="277" r:id="rId15"/>
    <p:sldId id="278" r:id="rId16"/>
    <p:sldId id="281" r:id="rId17"/>
    <p:sldId id="282" r:id="rId18"/>
    <p:sldId id="265" r:id="rId19"/>
  </p:sldIdLst>
  <p:sldSz cx="18288000" cy="10287000"/>
  <p:notesSz cx="6858000" cy="9144000"/>
  <p:embeddedFontLst>
    <p:embeddedFont>
      <p:font typeface="TT Firs Neue" panose="020B0604020202020204" charset="0"/>
      <p:regular r:id="rId21"/>
    </p:embeddedFont>
    <p:embeddedFont>
      <p:font typeface="TT Firs Neue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10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C3D086-FF4E-459A-A17A-13C9C6E42B25}"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D9966-23B8-4B2E-BAB9-CB00BF71FF17}" type="slidenum">
              <a:rPr lang="en-IN" smtClean="0"/>
              <a:t>‹#›</a:t>
            </a:fld>
            <a:endParaRPr lang="en-IN"/>
          </a:p>
        </p:txBody>
      </p:sp>
    </p:spTree>
    <p:extLst>
      <p:ext uri="{BB962C8B-B14F-4D97-AF65-F5344CB8AC3E}">
        <p14:creationId xmlns:p14="http://schemas.microsoft.com/office/powerpoint/2010/main" val="296517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ECD9966-23B8-4B2E-BAB9-CB00BF71FF17}" type="slidenum">
              <a:rPr lang="en-IN" smtClean="0"/>
              <a:t>2</a:t>
            </a:fld>
            <a:endParaRPr lang="en-IN"/>
          </a:p>
        </p:txBody>
      </p:sp>
    </p:spTree>
    <p:extLst>
      <p:ext uri="{BB962C8B-B14F-4D97-AF65-F5344CB8AC3E}">
        <p14:creationId xmlns:p14="http://schemas.microsoft.com/office/powerpoint/2010/main" val="4187335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total sales across seasons based on whether the product was recommended or not. We observe that recommended products perform exceptionally well during Spring, where sales are significantly higher than non-recommended items. However, in Summer, Autumn, and Winter, non-recommended products still generate higher sales. This suggests that the effectiveness of recommendation systems may vary across seasons. Retailers can therefore optimize their recommendation strategies during high-demand seasons like Spring to maximize sales</a:t>
            </a:r>
            <a:endParaRPr lang="en-IN" dirty="0"/>
          </a:p>
        </p:txBody>
      </p:sp>
      <p:sp>
        <p:nvSpPr>
          <p:cNvPr id="4" name="Slide Number Placeholder 3"/>
          <p:cNvSpPr>
            <a:spLocks noGrp="1"/>
          </p:cNvSpPr>
          <p:nvPr>
            <p:ph type="sldNum" sz="quarter" idx="5"/>
          </p:nvPr>
        </p:nvSpPr>
        <p:spPr/>
        <p:txBody>
          <a:bodyPr/>
          <a:lstStyle/>
          <a:p>
            <a:fld id="{1ECD9966-23B8-4B2E-BAB9-CB00BF71FF17}" type="slidenum">
              <a:rPr lang="en-IN" smtClean="0"/>
              <a:t>12</a:t>
            </a:fld>
            <a:endParaRPr lang="en-IN"/>
          </a:p>
        </p:txBody>
      </p:sp>
    </p:spTree>
    <p:extLst>
      <p:ext uri="{BB962C8B-B14F-4D97-AF65-F5344CB8AC3E}">
        <p14:creationId xmlns:p14="http://schemas.microsoft.com/office/powerpoint/2010/main" val="1858227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Casual and Sexy styles are stable. Because its having tight rating distribution.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For novelty and vintage styles have Volatile ratings. </a:t>
            </a:r>
            <a:r>
              <a:rPr lang="en-US" sz="1200" dirty="0"/>
              <a:t>This suggests higher Return Rate Risks for these categories.</a:t>
            </a:r>
            <a:endParaRPr lang="en-IN" sz="1200" dirty="0"/>
          </a:p>
          <a:p>
            <a:endParaRPr lang="en-IN" dirty="0"/>
          </a:p>
        </p:txBody>
      </p:sp>
      <p:sp>
        <p:nvSpPr>
          <p:cNvPr id="4" name="Slide Number Placeholder 3"/>
          <p:cNvSpPr>
            <a:spLocks noGrp="1"/>
          </p:cNvSpPr>
          <p:nvPr>
            <p:ph type="sldNum" sz="quarter" idx="5"/>
          </p:nvPr>
        </p:nvSpPr>
        <p:spPr/>
        <p:txBody>
          <a:bodyPr/>
          <a:lstStyle/>
          <a:p>
            <a:fld id="{1ECD9966-23B8-4B2E-BAB9-CB00BF71FF17}" type="slidenum">
              <a:rPr lang="en-IN" smtClean="0"/>
              <a:t>14</a:t>
            </a:fld>
            <a:endParaRPr lang="en-IN"/>
          </a:p>
        </p:txBody>
      </p:sp>
    </p:spTree>
    <p:extLst>
      <p:ext uri="{BB962C8B-B14F-4D97-AF65-F5344CB8AC3E}">
        <p14:creationId xmlns:p14="http://schemas.microsoft.com/office/powerpoint/2010/main" val="772004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ECD9966-23B8-4B2E-BAB9-CB00BF71FF17}" type="slidenum">
              <a:rPr lang="en-IN" smtClean="0"/>
              <a:t>15</a:t>
            </a:fld>
            <a:endParaRPr lang="en-IN"/>
          </a:p>
        </p:txBody>
      </p:sp>
    </p:spTree>
    <p:extLst>
      <p:ext uri="{BB962C8B-B14F-4D97-AF65-F5344CB8AC3E}">
        <p14:creationId xmlns:p14="http://schemas.microsoft.com/office/powerpoint/2010/main" val="98095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361BA">
                <a:alpha val="53500"/>
              </a:srgbClr>
            </a:gs>
            <a:gs pos="100000">
              <a:schemeClr val="bg2">
                <a:lumMod val="9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 Id="rId5" Type="http://schemas.openxmlformats.org/officeDocument/2006/relationships/hyperlink" Target="https://archive.ics.uci.edu/dataset/289/dresses+attribute+sales" TargetMode="Externa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1190" y="2324100"/>
            <a:ext cx="7846098" cy="7974489"/>
          </a:xfrm>
          <a:custGeom>
            <a:avLst/>
            <a:gdLst/>
            <a:ahLst/>
            <a:cxnLst/>
            <a:rect l="l" t="t" r="r" b="b"/>
            <a:pathLst>
              <a:path w="7846098" h="7974489">
                <a:moveTo>
                  <a:pt x="0" y="0"/>
                </a:moveTo>
                <a:lnTo>
                  <a:pt x="7846098" y="0"/>
                </a:lnTo>
                <a:lnTo>
                  <a:pt x="7846098" y="7974489"/>
                </a:lnTo>
                <a:lnTo>
                  <a:pt x="0" y="7974489"/>
                </a:lnTo>
                <a:lnTo>
                  <a:pt x="0" y="0"/>
                </a:lnTo>
                <a:close/>
              </a:path>
            </a:pathLst>
          </a:custGeom>
          <a:blipFill>
            <a:blip>
              <a:alphaModFix amt="5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929665" y="2627214"/>
            <a:ext cx="7977673" cy="6082976"/>
          </a:xfrm>
          <a:custGeom>
            <a:avLst/>
            <a:gdLst/>
            <a:ahLst/>
            <a:cxnLst/>
            <a:rect l="l" t="t" r="r" b="b"/>
            <a:pathLst>
              <a:path w="7977673" h="6082976">
                <a:moveTo>
                  <a:pt x="0" y="0"/>
                </a:moveTo>
                <a:lnTo>
                  <a:pt x="7977673" y="0"/>
                </a:lnTo>
                <a:lnTo>
                  <a:pt x="7977673" y="6082975"/>
                </a:lnTo>
                <a:lnTo>
                  <a:pt x="0" y="6082975"/>
                </a:lnTo>
                <a:lnTo>
                  <a:pt x="0" y="0"/>
                </a:lnTo>
                <a:close/>
              </a:path>
            </a:pathLst>
          </a:custGeom>
          <a:blipFill>
            <a:blip r:embed="rId3"/>
            <a:stretch>
              <a:fillRect/>
            </a:stretch>
          </a:blipFill>
        </p:spPr>
        <p:txBody>
          <a:bodyPr/>
          <a:lstStyle/>
          <a:p>
            <a:endParaRPr lang="en-IN"/>
          </a:p>
        </p:txBody>
      </p:sp>
      <p:sp>
        <p:nvSpPr>
          <p:cNvPr id="4" name="Freeform 4"/>
          <p:cNvSpPr/>
          <p:nvPr/>
        </p:nvSpPr>
        <p:spPr>
          <a:xfrm>
            <a:off x="16580734" y="8831782"/>
            <a:ext cx="1232341" cy="1625390"/>
          </a:xfrm>
          <a:custGeom>
            <a:avLst/>
            <a:gdLst/>
            <a:ahLst/>
            <a:cxnLst/>
            <a:rect l="l" t="t" r="r" b="b"/>
            <a:pathLst>
              <a:path w="1232341" h="1625390">
                <a:moveTo>
                  <a:pt x="0" y="0"/>
                </a:moveTo>
                <a:lnTo>
                  <a:pt x="1232341" y="0"/>
                </a:lnTo>
                <a:lnTo>
                  <a:pt x="1232341" y="1625390"/>
                </a:lnTo>
                <a:lnTo>
                  <a:pt x="0" y="162539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4848777" y="-175073"/>
            <a:ext cx="3988043" cy="812111"/>
          </a:xfrm>
          <a:custGeom>
            <a:avLst/>
            <a:gdLst/>
            <a:ahLst/>
            <a:cxnLst/>
            <a:rect l="l" t="t" r="r" b="b"/>
            <a:pathLst>
              <a:path w="3988043" h="812111">
                <a:moveTo>
                  <a:pt x="0" y="0"/>
                </a:moveTo>
                <a:lnTo>
                  <a:pt x="3988043" y="0"/>
                </a:lnTo>
                <a:lnTo>
                  <a:pt x="3988043" y="812111"/>
                </a:lnTo>
                <a:lnTo>
                  <a:pt x="0" y="812111"/>
                </a:lnTo>
                <a:lnTo>
                  <a:pt x="0" y="0"/>
                </a:lnTo>
                <a:close/>
              </a:path>
            </a:pathLst>
          </a:custGeom>
          <a:blipFill>
            <a:blip>
              <a:alphaModFix amt="8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12625179" y="7144900"/>
            <a:ext cx="714448" cy="181477"/>
          </a:xfrm>
          <a:custGeom>
            <a:avLst/>
            <a:gdLst/>
            <a:ahLst/>
            <a:cxnLst/>
            <a:rect l="l" t="t" r="r" b="b"/>
            <a:pathLst>
              <a:path w="714448" h="181477">
                <a:moveTo>
                  <a:pt x="0" y="0"/>
                </a:moveTo>
                <a:lnTo>
                  <a:pt x="714447" y="0"/>
                </a:lnTo>
                <a:lnTo>
                  <a:pt x="714447" y="181478"/>
                </a:lnTo>
                <a:lnTo>
                  <a:pt x="0" y="18147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8" name="AutoShape 8"/>
          <p:cNvSpPr/>
          <p:nvPr/>
        </p:nvSpPr>
        <p:spPr>
          <a:xfrm>
            <a:off x="10049769" y="7216589"/>
            <a:ext cx="2417993" cy="0"/>
          </a:xfrm>
          <a:prstGeom prst="line">
            <a:avLst/>
          </a:prstGeom>
          <a:ln w="38100" cap="flat">
            <a:solidFill>
              <a:srgbClr val="FFFFFF"/>
            </a:solidFill>
            <a:prstDash val="solid"/>
            <a:headEnd type="none" w="sm" len="sm"/>
            <a:tailEnd type="none" w="sm" len="sm"/>
          </a:ln>
        </p:spPr>
        <p:txBody>
          <a:bodyPr/>
          <a:lstStyle/>
          <a:p>
            <a:endParaRPr lang="en-IN"/>
          </a:p>
        </p:txBody>
      </p:sp>
      <p:sp>
        <p:nvSpPr>
          <p:cNvPr id="9" name="AutoShape 9"/>
          <p:cNvSpPr/>
          <p:nvPr/>
        </p:nvSpPr>
        <p:spPr>
          <a:xfrm>
            <a:off x="13501551" y="7197539"/>
            <a:ext cx="2417993" cy="0"/>
          </a:xfrm>
          <a:prstGeom prst="line">
            <a:avLst/>
          </a:prstGeom>
          <a:ln w="38100" cap="flat">
            <a:solidFill>
              <a:srgbClr val="FFFFFF"/>
            </a:solidFill>
            <a:prstDash val="solid"/>
            <a:headEnd type="none" w="sm" len="sm"/>
            <a:tailEnd type="none" w="sm" len="sm"/>
          </a:ln>
        </p:spPr>
        <p:txBody>
          <a:bodyPr/>
          <a:lstStyle/>
          <a:p>
            <a:endParaRPr lang="en-IN"/>
          </a:p>
        </p:txBody>
      </p:sp>
      <p:sp>
        <p:nvSpPr>
          <p:cNvPr id="11" name="TextBox 11"/>
          <p:cNvSpPr txBox="1"/>
          <p:nvPr/>
        </p:nvSpPr>
        <p:spPr>
          <a:xfrm>
            <a:off x="9225191" y="3571106"/>
            <a:ext cx="8063736" cy="924869"/>
          </a:xfrm>
          <a:prstGeom prst="rect">
            <a:avLst/>
          </a:prstGeom>
        </p:spPr>
        <p:txBody>
          <a:bodyPr wrap="square" lIns="0" tIns="0" rIns="0" bIns="0" rtlCol="0" anchor="t">
            <a:spAutoFit/>
          </a:bodyPr>
          <a:lstStyle/>
          <a:p>
            <a:pPr algn="l">
              <a:lnSpc>
                <a:spcPts val="6800"/>
              </a:lnSpc>
            </a:pPr>
            <a:r>
              <a:rPr lang="en-US" sz="8000" b="1" spc="-374" dirty="0">
                <a:solidFill>
                  <a:srgbClr val="000000"/>
                </a:solidFill>
                <a:latin typeface="+mj-lt"/>
                <a:ea typeface="Calibri Light" panose="020F0302020204030204" pitchFamily="34" charset="0"/>
                <a:cs typeface="Calibri Light" panose="020F0302020204030204" pitchFamily="34" charset="0"/>
                <a:sym typeface="Heading Now 71-78"/>
              </a:rPr>
              <a:t>Retail Intelligence</a:t>
            </a:r>
          </a:p>
        </p:txBody>
      </p:sp>
      <p:sp>
        <p:nvSpPr>
          <p:cNvPr id="13" name="TextBox 13"/>
          <p:cNvSpPr txBox="1"/>
          <p:nvPr/>
        </p:nvSpPr>
        <p:spPr>
          <a:xfrm>
            <a:off x="9311253" y="4796668"/>
            <a:ext cx="7977673" cy="872034"/>
          </a:xfrm>
          <a:prstGeom prst="rect">
            <a:avLst/>
          </a:prstGeom>
        </p:spPr>
        <p:txBody>
          <a:bodyPr wrap="square" lIns="0" tIns="0" rIns="0" bIns="0" rtlCol="0" anchor="t">
            <a:spAutoFit/>
          </a:bodyPr>
          <a:lstStyle/>
          <a:p>
            <a:pPr algn="l">
              <a:lnSpc>
                <a:spcPts val="3359"/>
              </a:lnSpc>
            </a:pPr>
            <a:r>
              <a:rPr lang="en-US" sz="3200" dirty="0">
                <a:solidFill>
                  <a:srgbClr val="000000"/>
                </a:solidFill>
                <a:latin typeface="+mj-lt"/>
                <a:ea typeface="TT Firs Neue"/>
                <a:cs typeface="TT Firs Neue"/>
                <a:sym typeface="TT Firs Neue"/>
              </a:rPr>
              <a:t>A Data-Driven Study of Product Attributes &amp; Sales Performance</a:t>
            </a:r>
          </a:p>
        </p:txBody>
      </p:sp>
      <p:sp>
        <p:nvSpPr>
          <p:cNvPr id="14" name="TextBox 14"/>
          <p:cNvSpPr txBox="1"/>
          <p:nvPr/>
        </p:nvSpPr>
        <p:spPr>
          <a:xfrm>
            <a:off x="12801600" y="8928050"/>
            <a:ext cx="3962400" cy="769441"/>
          </a:xfrm>
          <a:prstGeom prst="rect">
            <a:avLst/>
          </a:prstGeom>
        </p:spPr>
        <p:txBody>
          <a:bodyPr wrap="square" lIns="0" tIns="0" rIns="0" bIns="0" rtlCol="0" anchor="t">
            <a:spAutoFit/>
          </a:bodyPr>
          <a:lstStyle/>
          <a:p>
            <a:pPr>
              <a:lnSpc>
                <a:spcPts val="2970"/>
              </a:lnSpc>
            </a:pPr>
            <a:r>
              <a:rPr lang="en-US" sz="2400" dirty="0">
                <a:solidFill>
                  <a:srgbClr val="000000"/>
                </a:solidFill>
                <a:latin typeface="TT Firs Neue"/>
                <a:ea typeface="TT Firs Neue"/>
                <a:cs typeface="TT Firs Neue"/>
                <a:sym typeface="TT Firs Neue"/>
              </a:rPr>
              <a:t>Presented By: </a:t>
            </a:r>
            <a:r>
              <a:rPr lang="en-US" sz="2400" b="1" dirty="0">
                <a:solidFill>
                  <a:srgbClr val="000000"/>
                </a:solidFill>
                <a:latin typeface="TT Firs Neue Bold"/>
                <a:ea typeface="TT Firs Neue Bold"/>
                <a:cs typeface="TT Firs Neue Bold"/>
                <a:sym typeface="TT Firs Neue Bold"/>
              </a:rPr>
              <a:t>Smrithi P K</a:t>
            </a:r>
          </a:p>
          <a:p>
            <a:pPr algn="l">
              <a:lnSpc>
                <a:spcPts val="2970"/>
              </a:lnSpc>
            </a:pPr>
            <a:endParaRPr lang="en-US" sz="2400" dirty="0">
              <a:solidFill>
                <a:srgbClr val="000000"/>
              </a:solidFill>
              <a:latin typeface="TT Firs Neue"/>
              <a:ea typeface="TT Firs Neue"/>
              <a:cs typeface="TT Firs Neue"/>
              <a:sym typeface="TT Firs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26602-BA24-7D2E-A048-A94F9EE23B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DD1E369-856D-EC7A-D7D2-052C58833320}"/>
              </a:ext>
            </a:extLst>
          </p:cNvPr>
          <p:cNvSpPr/>
          <p:nvPr/>
        </p:nvSpPr>
        <p:spPr>
          <a:xfrm>
            <a:off x="6817236" y="-790149"/>
            <a:ext cx="2737630" cy="1887435"/>
          </a:xfrm>
          <a:custGeom>
            <a:avLst/>
            <a:gdLst/>
            <a:ahLst/>
            <a:cxnLst/>
            <a:rect l="l" t="t" r="r" b="b"/>
            <a:pathLst>
              <a:path w="2737630" h="1887435">
                <a:moveTo>
                  <a:pt x="0" y="0"/>
                </a:moveTo>
                <a:lnTo>
                  <a:pt x="2737630" y="0"/>
                </a:lnTo>
                <a:lnTo>
                  <a:pt x="2737630" y="1887435"/>
                </a:lnTo>
                <a:lnTo>
                  <a:pt x="0" y="1887435"/>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txBody>
          <a:bodyPr/>
          <a:lstStyle/>
          <a:p>
            <a:endParaRPr lang="en-IN">
              <a:latin typeface="+mj-lt"/>
            </a:endParaRPr>
          </a:p>
        </p:txBody>
      </p:sp>
      <p:sp>
        <p:nvSpPr>
          <p:cNvPr id="3" name="AutoShape 3">
            <a:extLst>
              <a:ext uri="{FF2B5EF4-FFF2-40B4-BE49-F238E27FC236}">
                <a16:creationId xmlns:a16="http://schemas.microsoft.com/office/drawing/2014/main" id="{851E594C-32EA-6C4F-A931-15FE33F384A8}"/>
              </a:ext>
            </a:extLst>
          </p:cNvPr>
          <p:cNvSpPr/>
          <p:nvPr/>
        </p:nvSpPr>
        <p:spPr>
          <a:xfrm>
            <a:off x="1650897" y="3390900"/>
            <a:ext cx="6535153" cy="0"/>
          </a:xfrm>
          <a:prstGeom prst="line">
            <a:avLst/>
          </a:prstGeom>
          <a:ln w="38100" cap="flat">
            <a:solidFill>
              <a:srgbClr val="7361BA"/>
            </a:solidFill>
            <a:prstDash val="solid"/>
            <a:headEnd type="none" w="sm" len="sm"/>
            <a:tailEnd type="none" w="sm" len="sm"/>
          </a:ln>
        </p:spPr>
        <p:txBody>
          <a:bodyPr/>
          <a:lstStyle/>
          <a:p>
            <a:endParaRPr lang="en-IN" dirty="0">
              <a:latin typeface="+mj-lt"/>
            </a:endParaRPr>
          </a:p>
        </p:txBody>
      </p:sp>
      <p:sp>
        <p:nvSpPr>
          <p:cNvPr id="6" name="Freeform 6">
            <a:extLst>
              <a:ext uri="{FF2B5EF4-FFF2-40B4-BE49-F238E27FC236}">
                <a16:creationId xmlns:a16="http://schemas.microsoft.com/office/drawing/2014/main" id="{005CEF76-2239-E0F1-E4F1-BBCF02C6C818}"/>
              </a:ext>
            </a:extLst>
          </p:cNvPr>
          <p:cNvSpPr/>
          <p:nvPr/>
        </p:nvSpPr>
        <p:spPr>
          <a:xfrm>
            <a:off x="13497517" y="9321162"/>
            <a:ext cx="3276436" cy="2258910"/>
          </a:xfrm>
          <a:custGeom>
            <a:avLst/>
            <a:gdLst/>
            <a:ahLst/>
            <a:cxnLst/>
            <a:rect l="l" t="t" r="r" b="b"/>
            <a:pathLst>
              <a:path w="3276436" h="2258910">
                <a:moveTo>
                  <a:pt x="0" y="0"/>
                </a:moveTo>
                <a:lnTo>
                  <a:pt x="3276436" y="0"/>
                </a:lnTo>
                <a:lnTo>
                  <a:pt x="3276436" y="2258910"/>
                </a:lnTo>
                <a:lnTo>
                  <a:pt x="0" y="2258910"/>
                </a:lnTo>
                <a:lnTo>
                  <a:pt x="0" y="0"/>
                </a:lnTo>
                <a:close/>
              </a:path>
            </a:pathLst>
          </a:custGeom>
          <a:blipFill>
            <a:blip>
              <a:alphaModFix amt="48000"/>
              <a:extLst>
                <a:ext uri="{96DAC541-7B7A-43D3-8B79-37D633B846F1}">
                  <asvg:svgBlip xmlns:asvg="http://schemas.microsoft.com/office/drawing/2016/SVG/main" r:embed="rId3"/>
                </a:ext>
              </a:extLst>
            </a:blip>
            <a:stretch>
              <a:fillRect/>
            </a:stretch>
          </a:blipFill>
        </p:spPr>
        <p:txBody>
          <a:bodyPr/>
          <a:lstStyle/>
          <a:p>
            <a:endParaRPr lang="en-IN">
              <a:latin typeface="+mj-lt"/>
            </a:endParaRPr>
          </a:p>
        </p:txBody>
      </p:sp>
      <p:sp>
        <p:nvSpPr>
          <p:cNvPr id="7" name="Freeform 7">
            <a:extLst>
              <a:ext uri="{FF2B5EF4-FFF2-40B4-BE49-F238E27FC236}">
                <a16:creationId xmlns:a16="http://schemas.microsoft.com/office/drawing/2014/main" id="{5785ABD3-BAE9-9A8D-9121-FBF4C5EFFBA3}"/>
              </a:ext>
            </a:extLst>
          </p:cNvPr>
          <p:cNvSpPr/>
          <p:nvPr/>
        </p:nvSpPr>
        <p:spPr>
          <a:xfrm>
            <a:off x="13999462" y="5096241"/>
            <a:ext cx="4669213" cy="5245002"/>
          </a:xfrm>
          <a:custGeom>
            <a:avLst/>
            <a:gdLst/>
            <a:ahLst/>
            <a:cxnLst/>
            <a:rect l="l" t="t" r="r" b="b"/>
            <a:pathLst>
              <a:path w="4669213" h="5245002">
                <a:moveTo>
                  <a:pt x="0" y="0"/>
                </a:moveTo>
                <a:lnTo>
                  <a:pt x="4669213" y="0"/>
                </a:lnTo>
                <a:lnTo>
                  <a:pt x="4669213" y="5245003"/>
                </a:lnTo>
                <a:lnTo>
                  <a:pt x="0" y="524500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latin typeface="+mj-lt"/>
            </a:endParaRPr>
          </a:p>
        </p:txBody>
      </p:sp>
      <p:sp>
        <p:nvSpPr>
          <p:cNvPr id="8" name="Freeform 8">
            <a:extLst>
              <a:ext uri="{FF2B5EF4-FFF2-40B4-BE49-F238E27FC236}">
                <a16:creationId xmlns:a16="http://schemas.microsoft.com/office/drawing/2014/main" id="{82E7915D-71E0-CF61-ED99-E66AEAC5B6AB}"/>
              </a:ext>
            </a:extLst>
          </p:cNvPr>
          <p:cNvSpPr/>
          <p:nvPr/>
        </p:nvSpPr>
        <p:spPr>
          <a:xfrm rot="5339454">
            <a:off x="12668886" y="646279"/>
            <a:ext cx="1062497" cy="1999559"/>
          </a:xfrm>
          <a:custGeom>
            <a:avLst/>
            <a:gdLst/>
            <a:ahLst/>
            <a:cxnLst/>
            <a:rect l="l" t="t" r="r" b="b"/>
            <a:pathLst>
              <a:path w="1062497" h="1999559">
                <a:moveTo>
                  <a:pt x="0" y="0"/>
                </a:moveTo>
                <a:lnTo>
                  <a:pt x="1062496" y="0"/>
                </a:lnTo>
                <a:lnTo>
                  <a:pt x="1062496" y="1999560"/>
                </a:lnTo>
                <a:lnTo>
                  <a:pt x="0" y="199956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latin typeface="+mj-lt"/>
            </a:endParaRPr>
          </a:p>
        </p:txBody>
      </p:sp>
      <p:sp>
        <p:nvSpPr>
          <p:cNvPr id="9" name="Freeform 9">
            <a:extLst>
              <a:ext uri="{FF2B5EF4-FFF2-40B4-BE49-F238E27FC236}">
                <a16:creationId xmlns:a16="http://schemas.microsoft.com/office/drawing/2014/main" id="{4CF69D32-BA4B-3726-CDDE-8FC1AAA8F03B}"/>
              </a:ext>
            </a:extLst>
          </p:cNvPr>
          <p:cNvSpPr/>
          <p:nvPr/>
        </p:nvSpPr>
        <p:spPr>
          <a:xfrm>
            <a:off x="17706639" y="784559"/>
            <a:ext cx="780347" cy="1225713"/>
          </a:xfrm>
          <a:custGeom>
            <a:avLst/>
            <a:gdLst/>
            <a:ahLst/>
            <a:cxnLst/>
            <a:rect l="l" t="t" r="r" b="b"/>
            <a:pathLst>
              <a:path w="780347" h="1225713">
                <a:moveTo>
                  <a:pt x="0" y="0"/>
                </a:moveTo>
                <a:lnTo>
                  <a:pt x="780347" y="0"/>
                </a:lnTo>
                <a:lnTo>
                  <a:pt x="780347" y="1225712"/>
                </a:lnTo>
                <a:lnTo>
                  <a:pt x="0" y="1225712"/>
                </a:lnTo>
                <a:lnTo>
                  <a:pt x="0" y="0"/>
                </a:lnTo>
                <a:close/>
              </a:path>
            </a:pathLst>
          </a:custGeom>
          <a:blipFill>
            <a:blip>
              <a:extLst>
                <a:ext uri="{96DAC541-7B7A-43D3-8B79-37D633B846F1}">
                  <asvg:svgBlip xmlns:asvg="http://schemas.microsoft.com/office/drawing/2016/SVG/main" r:embed="rId6"/>
                </a:ext>
              </a:extLst>
            </a:blip>
            <a:stretch>
              <a:fillRect l="-187740" t="-254"/>
            </a:stretch>
          </a:blipFill>
        </p:spPr>
        <p:txBody>
          <a:bodyPr/>
          <a:lstStyle/>
          <a:p>
            <a:endParaRPr lang="en-IN">
              <a:latin typeface="+mj-lt"/>
            </a:endParaRPr>
          </a:p>
        </p:txBody>
      </p:sp>
      <p:sp>
        <p:nvSpPr>
          <p:cNvPr id="11" name="TextBox 11">
            <a:extLst>
              <a:ext uri="{FF2B5EF4-FFF2-40B4-BE49-F238E27FC236}">
                <a16:creationId xmlns:a16="http://schemas.microsoft.com/office/drawing/2014/main" id="{7C741FBB-17B7-6AEF-B2D8-A1EBA34684A0}"/>
              </a:ext>
            </a:extLst>
          </p:cNvPr>
          <p:cNvSpPr txBox="1"/>
          <p:nvPr/>
        </p:nvSpPr>
        <p:spPr>
          <a:xfrm>
            <a:off x="1650897" y="2156732"/>
            <a:ext cx="9128631" cy="884216"/>
          </a:xfrm>
          <a:prstGeom prst="rect">
            <a:avLst/>
          </a:prstGeom>
        </p:spPr>
        <p:txBody>
          <a:bodyPr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Index</a:t>
            </a:r>
          </a:p>
        </p:txBody>
      </p:sp>
      <p:sp>
        <p:nvSpPr>
          <p:cNvPr id="29" name="Freeform 4">
            <a:extLst>
              <a:ext uri="{FF2B5EF4-FFF2-40B4-BE49-F238E27FC236}">
                <a16:creationId xmlns:a16="http://schemas.microsoft.com/office/drawing/2014/main" id="{349740BB-EFED-222B-F1A2-4707E30DA7D7}"/>
              </a:ext>
            </a:extLst>
          </p:cNvPr>
          <p:cNvSpPr/>
          <p:nvPr/>
        </p:nvSpPr>
        <p:spPr>
          <a:xfrm>
            <a:off x="1803297" y="3839278"/>
            <a:ext cx="406503" cy="447695"/>
          </a:xfrm>
          <a:custGeom>
            <a:avLst/>
            <a:gdLst/>
            <a:ahLst/>
            <a:cxnLst/>
            <a:rect l="l" t="t" r="r" b="b"/>
            <a:pathLst>
              <a:path w="669931" h="669931">
                <a:moveTo>
                  <a:pt x="0" y="0"/>
                </a:moveTo>
                <a:lnTo>
                  <a:pt x="669932" y="0"/>
                </a:lnTo>
                <a:lnTo>
                  <a:pt x="669932" y="669932"/>
                </a:lnTo>
                <a:lnTo>
                  <a:pt x="0" y="66993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mj-lt"/>
            </a:endParaRPr>
          </a:p>
        </p:txBody>
      </p:sp>
      <p:sp>
        <p:nvSpPr>
          <p:cNvPr id="30" name="TextBox 13">
            <a:extLst>
              <a:ext uri="{FF2B5EF4-FFF2-40B4-BE49-F238E27FC236}">
                <a16:creationId xmlns:a16="http://schemas.microsoft.com/office/drawing/2014/main" id="{AB2A4489-A179-E414-0824-852FBD64E056}"/>
              </a:ext>
            </a:extLst>
          </p:cNvPr>
          <p:cNvSpPr txBox="1"/>
          <p:nvPr/>
        </p:nvSpPr>
        <p:spPr>
          <a:xfrm>
            <a:off x="2438400" y="3915076"/>
            <a:ext cx="4876800" cy="371897"/>
          </a:xfrm>
          <a:prstGeom prst="rect">
            <a:avLst/>
          </a:prstGeom>
        </p:spPr>
        <p:txBody>
          <a:bodyPr wrap="square" lIns="0" tIns="0" rIns="0" bIns="0" rtlCol="0" anchor="t">
            <a:spAutoFit/>
          </a:bodyPr>
          <a:lstStyle/>
          <a:p>
            <a:pPr algn="l">
              <a:lnSpc>
                <a:spcPts val="2879"/>
              </a:lnSpc>
            </a:pPr>
            <a:r>
              <a:rPr lang="en-US" sz="2400" dirty="0">
                <a:solidFill>
                  <a:srgbClr val="000000"/>
                </a:solidFill>
                <a:latin typeface="+mj-lt"/>
                <a:ea typeface="TT Firs Neue Bold"/>
                <a:cs typeface="TT Firs Neue Bold"/>
                <a:sym typeface="TT Firs Neue Bold"/>
              </a:rPr>
              <a:t>Project Overview &amp; Objectives</a:t>
            </a:r>
          </a:p>
        </p:txBody>
      </p:sp>
      <p:sp>
        <p:nvSpPr>
          <p:cNvPr id="39" name="Freeform 4">
            <a:extLst>
              <a:ext uri="{FF2B5EF4-FFF2-40B4-BE49-F238E27FC236}">
                <a16:creationId xmlns:a16="http://schemas.microsoft.com/office/drawing/2014/main" id="{3C4701F1-D364-57D3-D432-8184E4AF1282}"/>
              </a:ext>
            </a:extLst>
          </p:cNvPr>
          <p:cNvSpPr/>
          <p:nvPr/>
        </p:nvSpPr>
        <p:spPr>
          <a:xfrm>
            <a:off x="1803297" y="5915005"/>
            <a:ext cx="406503" cy="447695"/>
          </a:xfrm>
          <a:custGeom>
            <a:avLst/>
            <a:gdLst/>
            <a:ahLst/>
            <a:cxnLst/>
            <a:rect l="l" t="t" r="r" b="b"/>
            <a:pathLst>
              <a:path w="669931" h="669931">
                <a:moveTo>
                  <a:pt x="0" y="0"/>
                </a:moveTo>
                <a:lnTo>
                  <a:pt x="669932" y="0"/>
                </a:lnTo>
                <a:lnTo>
                  <a:pt x="669932" y="669932"/>
                </a:lnTo>
                <a:lnTo>
                  <a:pt x="0" y="66993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mj-lt"/>
            </a:endParaRPr>
          </a:p>
        </p:txBody>
      </p:sp>
      <p:sp>
        <p:nvSpPr>
          <p:cNvPr id="40" name="TextBox 13">
            <a:extLst>
              <a:ext uri="{FF2B5EF4-FFF2-40B4-BE49-F238E27FC236}">
                <a16:creationId xmlns:a16="http://schemas.microsoft.com/office/drawing/2014/main" id="{7A170A11-F8DD-7065-6E42-A9D1CF66101A}"/>
              </a:ext>
            </a:extLst>
          </p:cNvPr>
          <p:cNvSpPr txBox="1"/>
          <p:nvPr/>
        </p:nvSpPr>
        <p:spPr>
          <a:xfrm>
            <a:off x="2438400" y="5990803"/>
            <a:ext cx="5105400" cy="371897"/>
          </a:xfrm>
          <a:prstGeom prst="rect">
            <a:avLst/>
          </a:prstGeom>
        </p:spPr>
        <p:txBody>
          <a:bodyPr wrap="square" lIns="0" tIns="0" rIns="0" bIns="0" rtlCol="0" anchor="t">
            <a:spAutoFit/>
          </a:bodyPr>
          <a:lstStyle/>
          <a:p>
            <a:pPr algn="l">
              <a:lnSpc>
                <a:spcPts val="2879"/>
              </a:lnSpc>
            </a:pPr>
            <a:r>
              <a:rPr lang="en-US" sz="2400" dirty="0">
                <a:solidFill>
                  <a:srgbClr val="000000"/>
                </a:solidFill>
                <a:latin typeface="+mj-lt"/>
                <a:ea typeface="TT Firs Neue Bold"/>
                <a:cs typeface="TT Firs Neue Bold"/>
                <a:sym typeface="TT Firs Neue Bold"/>
              </a:rPr>
              <a:t>EDA &amp; Visualizations</a:t>
            </a:r>
          </a:p>
        </p:txBody>
      </p:sp>
      <p:sp>
        <p:nvSpPr>
          <p:cNvPr id="41" name="Freeform 4">
            <a:extLst>
              <a:ext uri="{FF2B5EF4-FFF2-40B4-BE49-F238E27FC236}">
                <a16:creationId xmlns:a16="http://schemas.microsoft.com/office/drawing/2014/main" id="{5A570BA7-7D39-5445-3D73-996783A952E1}"/>
              </a:ext>
            </a:extLst>
          </p:cNvPr>
          <p:cNvSpPr/>
          <p:nvPr/>
        </p:nvSpPr>
        <p:spPr>
          <a:xfrm>
            <a:off x="1803297" y="4515853"/>
            <a:ext cx="406503" cy="447695"/>
          </a:xfrm>
          <a:custGeom>
            <a:avLst/>
            <a:gdLst/>
            <a:ahLst/>
            <a:cxnLst/>
            <a:rect l="l" t="t" r="r" b="b"/>
            <a:pathLst>
              <a:path w="669931" h="669931">
                <a:moveTo>
                  <a:pt x="0" y="0"/>
                </a:moveTo>
                <a:lnTo>
                  <a:pt x="669932" y="0"/>
                </a:lnTo>
                <a:lnTo>
                  <a:pt x="669932" y="669932"/>
                </a:lnTo>
                <a:lnTo>
                  <a:pt x="0" y="66993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mj-lt"/>
            </a:endParaRPr>
          </a:p>
        </p:txBody>
      </p:sp>
      <p:sp>
        <p:nvSpPr>
          <p:cNvPr id="42" name="TextBox 13">
            <a:extLst>
              <a:ext uri="{FF2B5EF4-FFF2-40B4-BE49-F238E27FC236}">
                <a16:creationId xmlns:a16="http://schemas.microsoft.com/office/drawing/2014/main" id="{3CD26DE9-7528-4416-8723-CA303807E653}"/>
              </a:ext>
            </a:extLst>
          </p:cNvPr>
          <p:cNvSpPr txBox="1"/>
          <p:nvPr/>
        </p:nvSpPr>
        <p:spPr>
          <a:xfrm>
            <a:off x="2438400" y="4591651"/>
            <a:ext cx="3039335" cy="371897"/>
          </a:xfrm>
          <a:prstGeom prst="rect">
            <a:avLst/>
          </a:prstGeom>
        </p:spPr>
        <p:txBody>
          <a:bodyPr lIns="0" tIns="0" rIns="0" bIns="0" rtlCol="0" anchor="t">
            <a:spAutoFit/>
          </a:bodyPr>
          <a:lstStyle/>
          <a:p>
            <a:pPr algn="l">
              <a:lnSpc>
                <a:spcPts val="2879"/>
              </a:lnSpc>
            </a:pPr>
            <a:r>
              <a:rPr lang="en-US" sz="2400" dirty="0">
                <a:solidFill>
                  <a:srgbClr val="000000"/>
                </a:solidFill>
                <a:latin typeface="+mj-lt"/>
                <a:ea typeface="TT Firs Neue Bold"/>
                <a:cs typeface="TT Firs Neue Bold"/>
                <a:sym typeface="TT Firs Neue Bold"/>
              </a:rPr>
              <a:t>Dataset Information</a:t>
            </a:r>
          </a:p>
        </p:txBody>
      </p:sp>
      <p:sp>
        <p:nvSpPr>
          <p:cNvPr id="43" name="Freeform 4">
            <a:extLst>
              <a:ext uri="{FF2B5EF4-FFF2-40B4-BE49-F238E27FC236}">
                <a16:creationId xmlns:a16="http://schemas.microsoft.com/office/drawing/2014/main" id="{13388CC0-8DC1-5344-704C-AB27C7CFBB85}"/>
              </a:ext>
            </a:extLst>
          </p:cNvPr>
          <p:cNvSpPr/>
          <p:nvPr/>
        </p:nvSpPr>
        <p:spPr>
          <a:xfrm>
            <a:off x="1803297" y="5209926"/>
            <a:ext cx="406503" cy="447695"/>
          </a:xfrm>
          <a:custGeom>
            <a:avLst/>
            <a:gdLst/>
            <a:ahLst/>
            <a:cxnLst/>
            <a:rect l="l" t="t" r="r" b="b"/>
            <a:pathLst>
              <a:path w="669931" h="669931">
                <a:moveTo>
                  <a:pt x="0" y="0"/>
                </a:moveTo>
                <a:lnTo>
                  <a:pt x="669932" y="0"/>
                </a:lnTo>
                <a:lnTo>
                  <a:pt x="669932" y="669932"/>
                </a:lnTo>
                <a:lnTo>
                  <a:pt x="0" y="66993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mj-lt"/>
            </a:endParaRPr>
          </a:p>
        </p:txBody>
      </p:sp>
      <p:sp>
        <p:nvSpPr>
          <p:cNvPr id="44" name="TextBox 13">
            <a:extLst>
              <a:ext uri="{FF2B5EF4-FFF2-40B4-BE49-F238E27FC236}">
                <a16:creationId xmlns:a16="http://schemas.microsoft.com/office/drawing/2014/main" id="{3812D50C-5CDB-8E6B-8472-B96680EFB76C}"/>
              </a:ext>
            </a:extLst>
          </p:cNvPr>
          <p:cNvSpPr txBox="1"/>
          <p:nvPr/>
        </p:nvSpPr>
        <p:spPr>
          <a:xfrm>
            <a:off x="2438400" y="5285724"/>
            <a:ext cx="5105400" cy="371897"/>
          </a:xfrm>
          <a:prstGeom prst="rect">
            <a:avLst/>
          </a:prstGeom>
        </p:spPr>
        <p:txBody>
          <a:bodyPr wrap="square" lIns="0" tIns="0" rIns="0" bIns="0" rtlCol="0" anchor="t">
            <a:spAutoFit/>
          </a:bodyPr>
          <a:lstStyle/>
          <a:p>
            <a:pPr algn="l">
              <a:lnSpc>
                <a:spcPts val="2879"/>
              </a:lnSpc>
            </a:pPr>
            <a:r>
              <a:rPr lang="en-US" sz="2400" dirty="0">
                <a:solidFill>
                  <a:srgbClr val="000000"/>
                </a:solidFill>
                <a:latin typeface="+mj-lt"/>
                <a:ea typeface="TT Firs Neue Bold"/>
                <a:cs typeface="TT Firs Neue Bold"/>
                <a:sym typeface="TT Firs Neue Bold"/>
              </a:rPr>
              <a:t>Data Cleaning &amp; Preprocessing</a:t>
            </a:r>
          </a:p>
        </p:txBody>
      </p:sp>
      <p:sp>
        <p:nvSpPr>
          <p:cNvPr id="47" name="Freeform 4">
            <a:extLst>
              <a:ext uri="{FF2B5EF4-FFF2-40B4-BE49-F238E27FC236}">
                <a16:creationId xmlns:a16="http://schemas.microsoft.com/office/drawing/2014/main" id="{00958EE0-66D1-282D-CFDF-33D894F6F697}"/>
              </a:ext>
            </a:extLst>
          </p:cNvPr>
          <p:cNvSpPr/>
          <p:nvPr/>
        </p:nvSpPr>
        <p:spPr>
          <a:xfrm>
            <a:off x="1803297" y="6634353"/>
            <a:ext cx="406503" cy="447695"/>
          </a:xfrm>
          <a:custGeom>
            <a:avLst/>
            <a:gdLst/>
            <a:ahLst/>
            <a:cxnLst/>
            <a:rect l="l" t="t" r="r" b="b"/>
            <a:pathLst>
              <a:path w="669931" h="669931">
                <a:moveTo>
                  <a:pt x="0" y="0"/>
                </a:moveTo>
                <a:lnTo>
                  <a:pt x="669932" y="0"/>
                </a:lnTo>
                <a:lnTo>
                  <a:pt x="669932" y="669932"/>
                </a:lnTo>
                <a:lnTo>
                  <a:pt x="0" y="66993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mj-lt"/>
            </a:endParaRPr>
          </a:p>
        </p:txBody>
      </p:sp>
      <p:sp>
        <p:nvSpPr>
          <p:cNvPr id="48" name="TextBox 13">
            <a:extLst>
              <a:ext uri="{FF2B5EF4-FFF2-40B4-BE49-F238E27FC236}">
                <a16:creationId xmlns:a16="http://schemas.microsoft.com/office/drawing/2014/main" id="{D5DC1FBB-83AF-71B9-95CD-8D3CF0989477}"/>
              </a:ext>
            </a:extLst>
          </p:cNvPr>
          <p:cNvSpPr txBox="1"/>
          <p:nvPr/>
        </p:nvSpPr>
        <p:spPr>
          <a:xfrm>
            <a:off x="2438400" y="6710151"/>
            <a:ext cx="5105400" cy="371897"/>
          </a:xfrm>
          <a:prstGeom prst="rect">
            <a:avLst/>
          </a:prstGeom>
        </p:spPr>
        <p:txBody>
          <a:bodyPr wrap="square" lIns="0" tIns="0" rIns="0" bIns="0" rtlCol="0" anchor="t">
            <a:spAutoFit/>
          </a:bodyPr>
          <a:lstStyle/>
          <a:p>
            <a:pPr algn="l">
              <a:lnSpc>
                <a:spcPts val="2879"/>
              </a:lnSpc>
            </a:pPr>
            <a:r>
              <a:rPr lang="en-US" sz="2400" dirty="0">
                <a:solidFill>
                  <a:srgbClr val="000000"/>
                </a:solidFill>
                <a:latin typeface="+mj-lt"/>
                <a:ea typeface="TT Firs Neue Bold"/>
                <a:cs typeface="TT Firs Neue Bold"/>
                <a:sym typeface="TT Firs Neue Bold"/>
              </a:rPr>
              <a:t>Key Insights &amp; Findings</a:t>
            </a:r>
          </a:p>
        </p:txBody>
      </p:sp>
      <p:sp>
        <p:nvSpPr>
          <p:cNvPr id="49" name="Freeform 4">
            <a:extLst>
              <a:ext uri="{FF2B5EF4-FFF2-40B4-BE49-F238E27FC236}">
                <a16:creationId xmlns:a16="http://schemas.microsoft.com/office/drawing/2014/main" id="{3334438F-23D6-5E0D-9D41-99A0EC617EE8}"/>
              </a:ext>
            </a:extLst>
          </p:cNvPr>
          <p:cNvSpPr/>
          <p:nvPr/>
        </p:nvSpPr>
        <p:spPr>
          <a:xfrm>
            <a:off x="1827181" y="7353701"/>
            <a:ext cx="406503" cy="447695"/>
          </a:xfrm>
          <a:custGeom>
            <a:avLst/>
            <a:gdLst/>
            <a:ahLst/>
            <a:cxnLst/>
            <a:rect l="l" t="t" r="r" b="b"/>
            <a:pathLst>
              <a:path w="669931" h="669931">
                <a:moveTo>
                  <a:pt x="0" y="0"/>
                </a:moveTo>
                <a:lnTo>
                  <a:pt x="669932" y="0"/>
                </a:lnTo>
                <a:lnTo>
                  <a:pt x="669932" y="669932"/>
                </a:lnTo>
                <a:lnTo>
                  <a:pt x="0" y="66993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mj-lt"/>
            </a:endParaRPr>
          </a:p>
        </p:txBody>
      </p:sp>
      <p:sp>
        <p:nvSpPr>
          <p:cNvPr id="50" name="TextBox 13">
            <a:extLst>
              <a:ext uri="{FF2B5EF4-FFF2-40B4-BE49-F238E27FC236}">
                <a16:creationId xmlns:a16="http://schemas.microsoft.com/office/drawing/2014/main" id="{E686AF9F-1EE6-59A9-C754-7A609FCCB82C}"/>
              </a:ext>
            </a:extLst>
          </p:cNvPr>
          <p:cNvSpPr txBox="1"/>
          <p:nvPr/>
        </p:nvSpPr>
        <p:spPr>
          <a:xfrm>
            <a:off x="2462284" y="7429499"/>
            <a:ext cx="5105400" cy="371897"/>
          </a:xfrm>
          <a:prstGeom prst="rect">
            <a:avLst/>
          </a:prstGeom>
        </p:spPr>
        <p:txBody>
          <a:bodyPr wrap="square" lIns="0" tIns="0" rIns="0" bIns="0" rtlCol="0" anchor="t">
            <a:spAutoFit/>
          </a:bodyPr>
          <a:lstStyle/>
          <a:p>
            <a:pPr algn="l">
              <a:lnSpc>
                <a:spcPts val="2879"/>
              </a:lnSpc>
            </a:pPr>
            <a:r>
              <a:rPr lang="en-US" sz="2400" dirty="0">
                <a:solidFill>
                  <a:srgbClr val="000000"/>
                </a:solidFill>
                <a:latin typeface="+mj-lt"/>
                <a:ea typeface="TT Firs Neue Bold"/>
                <a:cs typeface="TT Firs Neue Bold"/>
                <a:sym typeface="TT Firs Neue Bold"/>
              </a:rPr>
              <a:t>Conclusion</a:t>
            </a:r>
          </a:p>
        </p:txBody>
      </p:sp>
    </p:spTree>
    <p:extLst>
      <p:ext uri="{BB962C8B-B14F-4D97-AF65-F5344CB8AC3E}">
        <p14:creationId xmlns:p14="http://schemas.microsoft.com/office/powerpoint/2010/main" val="3530837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A1105-A461-2993-2B74-EB648E77C9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7C47E6-9E11-5EC1-9A99-03E5EF3A8BB3}"/>
              </a:ext>
            </a:extLst>
          </p:cNvPr>
          <p:cNvSpPr/>
          <p:nvPr/>
        </p:nvSpPr>
        <p:spPr>
          <a:xfrm>
            <a:off x="15108544" y="8862483"/>
            <a:ext cx="1126586" cy="1126586"/>
          </a:xfrm>
          <a:custGeom>
            <a:avLst/>
            <a:gdLst/>
            <a:ahLst/>
            <a:cxnLst/>
            <a:rect l="l" t="t" r="r" b="b"/>
            <a:pathLst>
              <a:path w="1126586" h="1126586">
                <a:moveTo>
                  <a:pt x="0" y="0"/>
                </a:moveTo>
                <a:lnTo>
                  <a:pt x="1126586" y="0"/>
                </a:lnTo>
                <a:lnTo>
                  <a:pt x="1126586" y="1126585"/>
                </a:lnTo>
                <a:lnTo>
                  <a:pt x="0" y="112658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1" name="Freeform 11">
            <a:extLst>
              <a:ext uri="{FF2B5EF4-FFF2-40B4-BE49-F238E27FC236}">
                <a16:creationId xmlns:a16="http://schemas.microsoft.com/office/drawing/2014/main" id="{C0CB6DB0-7BE6-D238-4CB6-3B8217C42C31}"/>
              </a:ext>
            </a:extLst>
          </p:cNvPr>
          <p:cNvSpPr/>
          <p:nvPr/>
        </p:nvSpPr>
        <p:spPr>
          <a:xfrm>
            <a:off x="12265976" y="-635274"/>
            <a:ext cx="3702129" cy="3614624"/>
          </a:xfrm>
          <a:custGeom>
            <a:avLst/>
            <a:gdLst/>
            <a:ahLst/>
            <a:cxnLst/>
            <a:rect l="l" t="t" r="r" b="b"/>
            <a:pathLst>
              <a:path w="3702129" h="3614624">
                <a:moveTo>
                  <a:pt x="0" y="0"/>
                </a:moveTo>
                <a:lnTo>
                  <a:pt x="3702129" y="0"/>
                </a:lnTo>
                <a:lnTo>
                  <a:pt x="3702129" y="3614624"/>
                </a:lnTo>
                <a:lnTo>
                  <a:pt x="0" y="3614624"/>
                </a:lnTo>
                <a:lnTo>
                  <a:pt x="0" y="0"/>
                </a:lnTo>
                <a:close/>
              </a:path>
            </a:pathLst>
          </a:custGeom>
          <a:blipFill>
            <a:blip>
              <a:alphaModFix amt="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4ADF0377-EC40-C94A-6BFE-4F92CB16A5E7}"/>
              </a:ext>
            </a:extLst>
          </p:cNvPr>
          <p:cNvSpPr/>
          <p:nvPr/>
        </p:nvSpPr>
        <p:spPr>
          <a:xfrm>
            <a:off x="8568407" y="9164718"/>
            <a:ext cx="714448" cy="181477"/>
          </a:xfrm>
          <a:custGeom>
            <a:avLst/>
            <a:gdLst/>
            <a:ahLst/>
            <a:cxnLst/>
            <a:rect l="l" t="t" r="r" b="b"/>
            <a:pathLst>
              <a:path w="714448" h="181477">
                <a:moveTo>
                  <a:pt x="0" y="0"/>
                </a:moveTo>
                <a:lnTo>
                  <a:pt x="714447" y="0"/>
                </a:lnTo>
                <a:lnTo>
                  <a:pt x="714447" y="181477"/>
                </a:lnTo>
                <a:lnTo>
                  <a:pt x="0" y="1814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7" name="AutoShape 17">
            <a:extLst>
              <a:ext uri="{FF2B5EF4-FFF2-40B4-BE49-F238E27FC236}">
                <a16:creationId xmlns:a16="http://schemas.microsoft.com/office/drawing/2014/main" id="{F18650DB-2AB4-0BBC-6B0B-744105010F69}"/>
              </a:ext>
            </a:extLst>
          </p:cNvPr>
          <p:cNvSpPr/>
          <p:nvPr/>
        </p:nvSpPr>
        <p:spPr>
          <a:xfrm>
            <a:off x="5210760" y="9236406"/>
            <a:ext cx="3200231" cy="0"/>
          </a:xfrm>
          <a:prstGeom prst="line">
            <a:avLst/>
          </a:prstGeom>
          <a:ln w="38100" cap="flat">
            <a:solidFill>
              <a:srgbClr val="FFFFFF"/>
            </a:solidFill>
            <a:prstDash val="solid"/>
            <a:headEnd type="none" w="sm" len="sm"/>
            <a:tailEnd type="none" w="sm" len="sm"/>
          </a:ln>
        </p:spPr>
        <p:txBody>
          <a:bodyPr/>
          <a:lstStyle/>
          <a:p>
            <a:endParaRPr lang="en-IN"/>
          </a:p>
        </p:txBody>
      </p:sp>
      <p:sp>
        <p:nvSpPr>
          <p:cNvPr id="18" name="AutoShape 18">
            <a:extLst>
              <a:ext uri="{FF2B5EF4-FFF2-40B4-BE49-F238E27FC236}">
                <a16:creationId xmlns:a16="http://schemas.microsoft.com/office/drawing/2014/main" id="{764B7E06-6BC9-3681-DAF0-99680039F2D2}"/>
              </a:ext>
            </a:extLst>
          </p:cNvPr>
          <p:cNvSpPr/>
          <p:nvPr/>
        </p:nvSpPr>
        <p:spPr>
          <a:xfrm>
            <a:off x="9444779" y="9217356"/>
            <a:ext cx="3356821" cy="0"/>
          </a:xfrm>
          <a:prstGeom prst="line">
            <a:avLst/>
          </a:prstGeom>
          <a:ln w="38100" cap="flat">
            <a:solidFill>
              <a:srgbClr val="FFFFFF"/>
            </a:solidFill>
            <a:prstDash val="solid"/>
            <a:headEnd type="none" w="sm" len="sm"/>
            <a:tailEnd type="none" w="sm" len="sm"/>
          </a:ln>
        </p:spPr>
        <p:txBody>
          <a:bodyPr/>
          <a:lstStyle/>
          <a:p>
            <a:endParaRPr lang="en-IN"/>
          </a:p>
        </p:txBody>
      </p:sp>
      <p:sp>
        <p:nvSpPr>
          <p:cNvPr id="20" name="TextBox 20">
            <a:extLst>
              <a:ext uri="{FF2B5EF4-FFF2-40B4-BE49-F238E27FC236}">
                <a16:creationId xmlns:a16="http://schemas.microsoft.com/office/drawing/2014/main" id="{2D5301EC-F220-4B54-7585-29DB11A7149C}"/>
              </a:ext>
            </a:extLst>
          </p:cNvPr>
          <p:cNvSpPr txBox="1"/>
          <p:nvPr/>
        </p:nvSpPr>
        <p:spPr>
          <a:xfrm>
            <a:off x="1600200" y="1398895"/>
            <a:ext cx="14268287" cy="1756250"/>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Project Overview &amp; Objectives</a:t>
            </a:r>
          </a:p>
          <a:p>
            <a:pPr algn="l">
              <a:lnSpc>
                <a:spcPts val="6800"/>
              </a:lnSpc>
            </a:pPr>
            <a:endParaRPr lang="en-US" sz="6800" b="1" spc="-374" dirty="0">
              <a:solidFill>
                <a:srgbClr val="000000"/>
              </a:solidFill>
              <a:latin typeface="+mj-lt"/>
              <a:ea typeface="Heading Now 71-78"/>
              <a:cs typeface="Heading Now 71-78"/>
              <a:sym typeface="Heading Now 71-78"/>
            </a:endParaRPr>
          </a:p>
        </p:txBody>
      </p:sp>
      <p:sp>
        <p:nvSpPr>
          <p:cNvPr id="23" name="TextBox 23">
            <a:extLst>
              <a:ext uri="{FF2B5EF4-FFF2-40B4-BE49-F238E27FC236}">
                <a16:creationId xmlns:a16="http://schemas.microsoft.com/office/drawing/2014/main" id="{86163B41-5AE4-D2EF-9E4E-219DC9C2ACC3}"/>
              </a:ext>
            </a:extLst>
          </p:cNvPr>
          <p:cNvSpPr txBox="1"/>
          <p:nvPr/>
        </p:nvSpPr>
        <p:spPr>
          <a:xfrm>
            <a:off x="1600200" y="3312577"/>
            <a:ext cx="15468600" cy="5191165"/>
          </a:xfrm>
          <a:prstGeom prst="rect">
            <a:avLst/>
          </a:prstGeom>
        </p:spPr>
        <p:txBody>
          <a:bodyPr wrap="square" lIns="0" tIns="0" rIns="0" bIns="0" rtlCol="0" anchor="t">
            <a:spAutoFit/>
          </a:bodyPr>
          <a:lstStyle/>
          <a:p>
            <a:pPr marL="342900" indent="-342900">
              <a:spcAft>
                <a:spcPts val="600"/>
              </a:spcAft>
              <a:buFont typeface="Arial" panose="020B0604020202020204" pitchFamily="34" charset="0"/>
              <a:buChar char="•"/>
            </a:pPr>
            <a:r>
              <a:rPr lang="en-US" sz="2400" dirty="0"/>
              <a:t>This project analyzes how </a:t>
            </a:r>
            <a:r>
              <a:rPr lang="en-US" sz="2400" b="1" dirty="0"/>
              <a:t>product attributes influence sales performance.</a:t>
            </a:r>
          </a:p>
          <a:p>
            <a:pPr marL="342900" indent="-342900">
              <a:spcAft>
                <a:spcPts val="600"/>
              </a:spcAft>
              <a:buFont typeface="Arial" panose="020B0604020202020204" pitchFamily="34" charset="0"/>
              <a:buChar char="•"/>
            </a:pPr>
            <a:r>
              <a:rPr lang="en-US" sz="2400" dirty="0"/>
              <a:t>The goal is to uncover patterns between </a:t>
            </a:r>
            <a:r>
              <a:rPr lang="en-US" sz="2400" b="1" dirty="0"/>
              <a:t>dress characteristics and customer purchasing behavior</a:t>
            </a:r>
            <a:r>
              <a:rPr lang="en-US" sz="2400" dirty="0"/>
              <a:t> using Python-based data analysis.</a:t>
            </a:r>
          </a:p>
          <a:p>
            <a:pPr>
              <a:spcAft>
                <a:spcPts val="600"/>
              </a:spcAft>
            </a:pPr>
            <a:endParaRPr lang="en-US" sz="2400" dirty="0"/>
          </a:p>
          <a:p>
            <a:pPr>
              <a:spcAft>
                <a:spcPts val="600"/>
              </a:spcAft>
            </a:pPr>
            <a:r>
              <a:rPr lang="en-US" sz="2400" b="1" dirty="0"/>
              <a:t>Key Goals:</a:t>
            </a:r>
          </a:p>
          <a:p>
            <a:pPr>
              <a:spcAft>
                <a:spcPts val="600"/>
              </a:spcAft>
            </a:pPr>
            <a:endParaRPr lang="en-US" sz="2400" dirty="0"/>
          </a:p>
          <a:p>
            <a:pPr marL="342900" indent="-342900">
              <a:spcAft>
                <a:spcPts val="600"/>
              </a:spcAft>
              <a:buFont typeface="Arial" panose="020B0604020202020204" pitchFamily="34" charset="0"/>
              <a:buChar char="•"/>
            </a:pPr>
            <a:r>
              <a:rPr lang="en-US" sz="2400" dirty="0"/>
              <a:t>Understand sales trends </a:t>
            </a:r>
          </a:p>
          <a:p>
            <a:pPr marL="342900" indent="-342900">
              <a:spcAft>
                <a:spcPts val="600"/>
              </a:spcAft>
              <a:buFont typeface="Arial" panose="020B0604020202020204" pitchFamily="34" charset="0"/>
              <a:buChar char="•"/>
            </a:pPr>
            <a:r>
              <a:rPr lang="en-US" sz="2400" dirty="0"/>
              <a:t>Analyze seasonal variations in sales performance</a:t>
            </a:r>
          </a:p>
          <a:p>
            <a:pPr marL="342900" indent="-342900">
              <a:spcAft>
                <a:spcPts val="600"/>
              </a:spcAft>
              <a:buFont typeface="Arial" panose="020B0604020202020204" pitchFamily="34" charset="0"/>
              <a:buChar char="•"/>
            </a:pPr>
            <a:r>
              <a:rPr lang="en-US" sz="2400" dirty="0"/>
              <a:t>Identify high-performing product attributes </a:t>
            </a:r>
          </a:p>
          <a:p>
            <a:pPr marL="342900" indent="-342900">
              <a:spcAft>
                <a:spcPts val="600"/>
              </a:spcAft>
              <a:buFont typeface="Arial" panose="020B0604020202020204" pitchFamily="34" charset="0"/>
              <a:buChar char="•"/>
            </a:pPr>
            <a:r>
              <a:rPr lang="en-US" sz="2400" dirty="0"/>
              <a:t>Discover patterns in customer preferences </a:t>
            </a:r>
          </a:p>
          <a:p>
            <a:pPr marL="342900" indent="-342900">
              <a:spcAft>
                <a:spcPts val="600"/>
              </a:spcAft>
              <a:buFont typeface="Arial" panose="020B0604020202020204" pitchFamily="34" charset="0"/>
              <a:buChar char="•"/>
            </a:pPr>
            <a:r>
              <a:rPr lang="en-US" sz="2400" dirty="0"/>
              <a:t>Generate business insights for retailers</a:t>
            </a:r>
          </a:p>
          <a:p>
            <a:pPr>
              <a:lnSpc>
                <a:spcPts val="2800"/>
              </a:lnSpc>
            </a:pPr>
            <a:endParaRPr lang="en-US" sz="2400" dirty="0">
              <a:solidFill>
                <a:srgbClr val="000000"/>
              </a:solidFill>
              <a:ea typeface="TT Firs Neue"/>
              <a:cs typeface="TT Firs Neue"/>
              <a:sym typeface="TT Firs Neue"/>
            </a:endParaRPr>
          </a:p>
        </p:txBody>
      </p:sp>
      <p:sp>
        <p:nvSpPr>
          <p:cNvPr id="30" name="AutoShape 3">
            <a:extLst>
              <a:ext uri="{FF2B5EF4-FFF2-40B4-BE49-F238E27FC236}">
                <a16:creationId xmlns:a16="http://schemas.microsoft.com/office/drawing/2014/main" id="{58717F22-BF40-22CB-C4D4-F840CD974C80}"/>
              </a:ext>
            </a:extLst>
          </p:cNvPr>
          <p:cNvSpPr/>
          <p:nvPr/>
        </p:nvSpPr>
        <p:spPr>
          <a:xfrm>
            <a:off x="1600200" y="2552700"/>
            <a:ext cx="6535153" cy="0"/>
          </a:xfrm>
          <a:prstGeom prst="line">
            <a:avLst/>
          </a:prstGeom>
          <a:ln w="38100" cap="flat">
            <a:solidFill>
              <a:srgbClr val="7361BA"/>
            </a:solidFill>
            <a:prstDash val="solid"/>
            <a:headEnd type="none" w="sm" len="sm"/>
            <a:tailEnd type="none" w="sm" len="sm"/>
          </a:ln>
        </p:spPr>
        <p:txBody>
          <a:bodyPr/>
          <a:lstStyle/>
          <a:p>
            <a:endParaRPr lang="en-IN" dirty="0">
              <a:latin typeface="+mj-lt"/>
            </a:endParaRPr>
          </a:p>
        </p:txBody>
      </p:sp>
    </p:spTree>
    <p:extLst>
      <p:ext uri="{BB962C8B-B14F-4D97-AF65-F5344CB8AC3E}">
        <p14:creationId xmlns:p14="http://schemas.microsoft.com/office/powerpoint/2010/main" val="1443310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01DD-87AB-C2D1-5F24-F2AA3684E86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087FBF-D2D3-F7D0-F9F8-29C3F10D6C6F}"/>
              </a:ext>
            </a:extLst>
          </p:cNvPr>
          <p:cNvSpPr/>
          <p:nvPr/>
        </p:nvSpPr>
        <p:spPr>
          <a:xfrm>
            <a:off x="15108544" y="8862483"/>
            <a:ext cx="1126586" cy="1126586"/>
          </a:xfrm>
          <a:custGeom>
            <a:avLst/>
            <a:gdLst/>
            <a:ahLst/>
            <a:cxnLst/>
            <a:rect l="l" t="t" r="r" b="b"/>
            <a:pathLst>
              <a:path w="1126586" h="1126586">
                <a:moveTo>
                  <a:pt x="0" y="0"/>
                </a:moveTo>
                <a:lnTo>
                  <a:pt x="1126586" y="0"/>
                </a:lnTo>
                <a:lnTo>
                  <a:pt x="1126586" y="1126585"/>
                </a:lnTo>
                <a:lnTo>
                  <a:pt x="0" y="112658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1" name="Freeform 11">
            <a:extLst>
              <a:ext uri="{FF2B5EF4-FFF2-40B4-BE49-F238E27FC236}">
                <a16:creationId xmlns:a16="http://schemas.microsoft.com/office/drawing/2014/main" id="{A54302F6-8646-F842-5CD7-8A4FD3E15A7F}"/>
              </a:ext>
            </a:extLst>
          </p:cNvPr>
          <p:cNvSpPr/>
          <p:nvPr/>
        </p:nvSpPr>
        <p:spPr>
          <a:xfrm>
            <a:off x="12265976" y="-635274"/>
            <a:ext cx="3702129" cy="3614624"/>
          </a:xfrm>
          <a:custGeom>
            <a:avLst/>
            <a:gdLst/>
            <a:ahLst/>
            <a:cxnLst/>
            <a:rect l="l" t="t" r="r" b="b"/>
            <a:pathLst>
              <a:path w="3702129" h="3614624">
                <a:moveTo>
                  <a:pt x="0" y="0"/>
                </a:moveTo>
                <a:lnTo>
                  <a:pt x="3702129" y="0"/>
                </a:lnTo>
                <a:lnTo>
                  <a:pt x="3702129" y="3614624"/>
                </a:lnTo>
                <a:lnTo>
                  <a:pt x="0" y="3614624"/>
                </a:lnTo>
                <a:lnTo>
                  <a:pt x="0" y="0"/>
                </a:lnTo>
                <a:close/>
              </a:path>
            </a:pathLst>
          </a:custGeom>
          <a:blipFill>
            <a:blip>
              <a:alphaModFix amt="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AFF4565A-DD89-3679-0F48-5D926B2C2347}"/>
              </a:ext>
            </a:extLst>
          </p:cNvPr>
          <p:cNvSpPr/>
          <p:nvPr/>
        </p:nvSpPr>
        <p:spPr>
          <a:xfrm>
            <a:off x="8568407" y="9164718"/>
            <a:ext cx="714448" cy="181477"/>
          </a:xfrm>
          <a:custGeom>
            <a:avLst/>
            <a:gdLst/>
            <a:ahLst/>
            <a:cxnLst/>
            <a:rect l="l" t="t" r="r" b="b"/>
            <a:pathLst>
              <a:path w="714448" h="181477">
                <a:moveTo>
                  <a:pt x="0" y="0"/>
                </a:moveTo>
                <a:lnTo>
                  <a:pt x="714447" y="0"/>
                </a:lnTo>
                <a:lnTo>
                  <a:pt x="714447" y="181477"/>
                </a:lnTo>
                <a:lnTo>
                  <a:pt x="0" y="1814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7" name="AutoShape 17">
            <a:extLst>
              <a:ext uri="{FF2B5EF4-FFF2-40B4-BE49-F238E27FC236}">
                <a16:creationId xmlns:a16="http://schemas.microsoft.com/office/drawing/2014/main" id="{F4386AB5-FBA1-65F0-AC80-C0E3211A14CC}"/>
              </a:ext>
            </a:extLst>
          </p:cNvPr>
          <p:cNvSpPr/>
          <p:nvPr/>
        </p:nvSpPr>
        <p:spPr>
          <a:xfrm>
            <a:off x="5210760" y="9236406"/>
            <a:ext cx="3200231" cy="0"/>
          </a:xfrm>
          <a:prstGeom prst="line">
            <a:avLst/>
          </a:prstGeom>
          <a:ln w="38100" cap="flat">
            <a:solidFill>
              <a:srgbClr val="FFFFFF"/>
            </a:solidFill>
            <a:prstDash val="solid"/>
            <a:headEnd type="none" w="sm" len="sm"/>
            <a:tailEnd type="none" w="sm" len="sm"/>
          </a:ln>
        </p:spPr>
        <p:txBody>
          <a:bodyPr/>
          <a:lstStyle/>
          <a:p>
            <a:endParaRPr lang="en-IN"/>
          </a:p>
        </p:txBody>
      </p:sp>
      <p:sp>
        <p:nvSpPr>
          <p:cNvPr id="18" name="AutoShape 18">
            <a:extLst>
              <a:ext uri="{FF2B5EF4-FFF2-40B4-BE49-F238E27FC236}">
                <a16:creationId xmlns:a16="http://schemas.microsoft.com/office/drawing/2014/main" id="{C1B365FE-BAF7-2963-D85E-32C4BE218020}"/>
              </a:ext>
            </a:extLst>
          </p:cNvPr>
          <p:cNvSpPr/>
          <p:nvPr/>
        </p:nvSpPr>
        <p:spPr>
          <a:xfrm>
            <a:off x="9444779" y="9217356"/>
            <a:ext cx="3356821" cy="0"/>
          </a:xfrm>
          <a:prstGeom prst="line">
            <a:avLst/>
          </a:prstGeom>
          <a:ln w="38100" cap="flat">
            <a:solidFill>
              <a:srgbClr val="FFFFFF"/>
            </a:solidFill>
            <a:prstDash val="solid"/>
            <a:headEnd type="none" w="sm" len="sm"/>
            <a:tailEnd type="none" w="sm" len="sm"/>
          </a:ln>
        </p:spPr>
        <p:txBody>
          <a:bodyPr/>
          <a:lstStyle/>
          <a:p>
            <a:endParaRPr lang="en-IN"/>
          </a:p>
        </p:txBody>
      </p:sp>
      <p:sp>
        <p:nvSpPr>
          <p:cNvPr id="20" name="TextBox 20">
            <a:extLst>
              <a:ext uri="{FF2B5EF4-FFF2-40B4-BE49-F238E27FC236}">
                <a16:creationId xmlns:a16="http://schemas.microsoft.com/office/drawing/2014/main" id="{2F127CBE-8190-89A4-E075-0F99F3A79EAD}"/>
              </a:ext>
            </a:extLst>
          </p:cNvPr>
          <p:cNvSpPr txBox="1"/>
          <p:nvPr/>
        </p:nvSpPr>
        <p:spPr>
          <a:xfrm>
            <a:off x="1600200" y="1398895"/>
            <a:ext cx="14268287"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Dataset Information</a:t>
            </a:r>
          </a:p>
        </p:txBody>
      </p:sp>
      <p:sp>
        <p:nvSpPr>
          <p:cNvPr id="23" name="TextBox 23">
            <a:extLst>
              <a:ext uri="{FF2B5EF4-FFF2-40B4-BE49-F238E27FC236}">
                <a16:creationId xmlns:a16="http://schemas.microsoft.com/office/drawing/2014/main" id="{C21CB236-EE3D-DF7F-A392-5E68BAF03F18}"/>
              </a:ext>
            </a:extLst>
          </p:cNvPr>
          <p:cNvSpPr txBox="1"/>
          <p:nvPr/>
        </p:nvSpPr>
        <p:spPr>
          <a:xfrm>
            <a:off x="1548555" y="2790044"/>
            <a:ext cx="15468600" cy="6170920"/>
          </a:xfrm>
          <a:prstGeom prst="rect">
            <a:avLst/>
          </a:prstGeom>
        </p:spPr>
        <p:txBody>
          <a:bodyPr wrap="square" lIns="0" tIns="0" rIns="0" bIns="0" rtlCol="0" anchor="t">
            <a:spAutoFit/>
          </a:bodyPr>
          <a:lstStyle/>
          <a:p>
            <a:pPr>
              <a:spcAft>
                <a:spcPts val="600"/>
              </a:spcAft>
            </a:pPr>
            <a:r>
              <a:rPr lang="en-IN" sz="2400" b="1" dirty="0"/>
              <a:t>Dataset :</a:t>
            </a:r>
            <a:r>
              <a:rPr lang="en-IN" sz="2400" dirty="0"/>
              <a:t> Dress Attributes &amp; Sales Dataset</a:t>
            </a:r>
          </a:p>
          <a:p>
            <a:pPr>
              <a:spcAft>
                <a:spcPts val="600"/>
              </a:spcAft>
            </a:pPr>
            <a:r>
              <a:rPr lang="en-IN" sz="2400" b="1" dirty="0"/>
              <a:t>Source   :</a:t>
            </a:r>
            <a:r>
              <a:rPr lang="en-IN" sz="2400" dirty="0"/>
              <a:t> </a:t>
            </a:r>
            <a:r>
              <a:rPr lang="en-US" sz="2400" dirty="0"/>
              <a:t>UCI Machine Learning Repository - </a:t>
            </a:r>
            <a:r>
              <a:rPr lang="en-US" sz="2400" u="sng" dirty="0">
                <a:hlinkClick r:id="rId5"/>
              </a:rPr>
              <a:t>https://archive.ics.uci.edu/dataset/289/dresses+attribute+sales</a:t>
            </a:r>
            <a:endParaRPr lang="en-US" sz="2400" u="sng" dirty="0"/>
          </a:p>
          <a:p>
            <a:pPr>
              <a:spcAft>
                <a:spcPts val="600"/>
              </a:spcAft>
            </a:pPr>
            <a:endParaRPr lang="en-IN" sz="2400" b="1" dirty="0"/>
          </a:p>
          <a:p>
            <a:pPr>
              <a:spcAft>
                <a:spcPts val="600"/>
              </a:spcAft>
            </a:pPr>
            <a:r>
              <a:rPr lang="en-IN" sz="2400" b="1" dirty="0"/>
              <a:t>Dataset Details: </a:t>
            </a:r>
            <a:endParaRPr lang="en-IN" sz="2400" dirty="0"/>
          </a:p>
          <a:p>
            <a:pPr marL="342900" indent="-342900">
              <a:spcAft>
                <a:spcPts val="600"/>
              </a:spcAft>
              <a:buFont typeface="Arial" panose="020B0604020202020204" pitchFamily="34" charset="0"/>
              <a:buChar char="•"/>
            </a:pPr>
            <a:r>
              <a:rPr lang="en-US" sz="2400" dirty="0">
                <a:solidFill>
                  <a:srgbClr val="000000"/>
                </a:solidFill>
                <a:ea typeface="TT Firs Neue"/>
                <a:cs typeface="TT Firs Neue"/>
                <a:sym typeface="TT Firs Neue"/>
              </a:rPr>
              <a:t>There are 2 datasets - Attribute dataset &amp; Dress Sales dataset</a:t>
            </a:r>
          </a:p>
          <a:p>
            <a:pPr>
              <a:spcAft>
                <a:spcPts val="600"/>
              </a:spcAft>
            </a:pPr>
            <a:r>
              <a:rPr lang="en-US" sz="2400" dirty="0">
                <a:solidFill>
                  <a:srgbClr val="000000"/>
                </a:solidFill>
                <a:ea typeface="TT Firs Neue"/>
                <a:cs typeface="TT Firs Neue"/>
                <a:sym typeface="TT Firs Neue"/>
              </a:rPr>
              <a:t>     Attribute Dataset : 500 rows and 14 columns</a:t>
            </a:r>
          </a:p>
          <a:p>
            <a:pPr>
              <a:spcAft>
                <a:spcPts val="600"/>
              </a:spcAft>
            </a:pPr>
            <a:r>
              <a:rPr lang="en-US" sz="2400" dirty="0">
                <a:solidFill>
                  <a:srgbClr val="000000"/>
                </a:solidFill>
                <a:ea typeface="TT Firs Neue"/>
                <a:cs typeface="TT Firs Neue"/>
                <a:sym typeface="TT Firs Neue"/>
              </a:rPr>
              <a:t>     Dress Sales Dataset : 500 rows and 24 columns</a:t>
            </a:r>
          </a:p>
          <a:p>
            <a:pPr>
              <a:spcAft>
                <a:spcPts val="600"/>
              </a:spcAft>
            </a:pPr>
            <a:endParaRPr lang="en-US" sz="2400" dirty="0">
              <a:solidFill>
                <a:srgbClr val="000000"/>
              </a:solidFill>
              <a:ea typeface="TT Firs Neue"/>
              <a:cs typeface="TT Firs Neue"/>
              <a:sym typeface="TT Firs Neue"/>
            </a:endParaRPr>
          </a:p>
          <a:p>
            <a:pPr marL="342900" indent="-342900">
              <a:spcAft>
                <a:spcPts val="600"/>
              </a:spcAft>
              <a:buFont typeface="Arial" panose="020B0604020202020204" pitchFamily="34" charset="0"/>
              <a:buChar char="•"/>
            </a:pPr>
            <a:r>
              <a:rPr lang="en-IN" sz="2400" dirty="0"/>
              <a:t>Attribute Columns: Style, Price, Season, Sleeve Length, Neckline, Pattern etc. </a:t>
            </a:r>
          </a:p>
          <a:p>
            <a:pPr marL="342900" indent="-342900">
              <a:spcAft>
                <a:spcPts val="600"/>
              </a:spcAft>
              <a:buFont typeface="Arial" panose="020B0604020202020204" pitchFamily="34" charset="0"/>
              <a:buChar char="•"/>
            </a:pPr>
            <a:r>
              <a:rPr lang="en-IN" sz="2400" dirty="0"/>
              <a:t>Sales Data: Daily sales for multiple days </a:t>
            </a:r>
          </a:p>
          <a:p>
            <a:pPr marL="342900" indent="-342900">
              <a:spcAft>
                <a:spcPts val="600"/>
              </a:spcAft>
              <a:buFont typeface="Arial" panose="020B0604020202020204" pitchFamily="34" charset="0"/>
              <a:buChar char="•"/>
            </a:pPr>
            <a:r>
              <a:rPr lang="en-IN" sz="2400" dirty="0"/>
              <a:t>Data Type: Mixed (Categorical + Numeric) </a:t>
            </a:r>
          </a:p>
          <a:p>
            <a:pPr>
              <a:spcAft>
                <a:spcPts val="600"/>
              </a:spcAft>
            </a:pPr>
            <a:endParaRPr lang="en-IN" sz="2400" dirty="0"/>
          </a:p>
          <a:p>
            <a:pPr>
              <a:spcAft>
                <a:spcPts val="600"/>
              </a:spcAft>
            </a:pPr>
            <a:r>
              <a:rPr lang="en-IN" sz="2400" b="1" dirty="0"/>
              <a:t>Purpose  : </a:t>
            </a:r>
            <a:r>
              <a:rPr lang="en-IN" sz="2400" dirty="0"/>
              <a:t>To analyse how </a:t>
            </a:r>
            <a:r>
              <a:rPr lang="en-IN" sz="2400" b="1" dirty="0"/>
              <a:t>product attributes affect product sales performance</a:t>
            </a:r>
            <a:r>
              <a:rPr lang="en-IN" sz="2400" dirty="0"/>
              <a:t>.</a:t>
            </a:r>
          </a:p>
          <a:p>
            <a:pPr>
              <a:spcAft>
                <a:spcPts val="600"/>
              </a:spcAft>
            </a:pPr>
            <a:endParaRPr lang="en-US" sz="2400" dirty="0">
              <a:solidFill>
                <a:srgbClr val="000000"/>
              </a:solidFill>
              <a:ea typeface="TT Firs Neue"/>
              <a:cs typeface="TT Firs Neue"/>
              <a:sym typeface="TT Firs Neue"/>
            </a:endParaRPr>
          </a:p>
        </p:txBody>
      </p:sp>
      <p:sp>
        <p:nvSpPr>
          <p:cNvPr id="30" name="AutoShape 3">
            <a:extLst>
              <a:ext uri="{FF2B5EF4-FFF2-40B4-BE49-F238E27FC236}">
                <a16:creationId xmlns:a16="http://schemas.microsoft.com/office/drawing/2014/main" id="{A0780DDB-7768-23B9-A6D3-AA45FD4A7D10}"/>
              </a:ext>
            </a:extLst>
          </p:cNvPr>
          <p:cNvSpPr/>
          <p:nvPr/>
        </p:nvSpPr>
        <p:spPr>
          <a:xfrm>
            <a:off x="1600200" y="2552700"/>
            <a:ext cx="6535153" cy="0"/>
          </a:xfrm>
          <a:prstGeom prst="line">
            <a:avLst/>
          </a:prstGeom>
          <a:ln w="38100" cap="flat">
            <a:solidFill>
              <a:srgbClr val="7361BA"/>
            </a:solidFill>
            <a:prstDash val="solid"/>
            <a:headEnd type="none" w="sm" len="sm"/>
            <a:tailEnd type="none" w="sm" len="sm"/>
          </a:ln>
        </p:spPr>
        <p:txBody>
          <a:bodyPr/>
          <a:lstStyle/>
          <a:p>
            <a:endParaRPr lang="en-IN" dirty="0">
              <a:latin typeface="+mj-lt"/>
            </a:endParaRPr>
          </a:p>
        </p:txBody>
      </p:sp>
    </p:spTree>
    <p:extLst>
      <p:ext uri="{BB962C8B-B14F-4D97-AF65-F5344CB8AC3E}">
        <p14:creationId xmlns:p14="http://schemas.microsoft.com/office/powerpoint/2010/main" val="3298628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01F80-B4F4-B145-4FCB-3C8441F4AC4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10E85B6-8BFC-82D7-9F46-5C32A8118AF1}"/>
              </a:ext>
            </a:extLst>
          </p:cNvPr>
          <p:cNvSpPr/>
          <p:nvPr/>
        </p:nvSpPr>
        <p:spPr>
          <a:xfrm>
            <a:off x="15551816" y="-899784"/>
            <a:ext cx="2737630" cy="1887435"/>
          </a:xfrm>
          <a:custGeom>
            <a:avLst/>
            <a:gdLst/>
            <a:ahLst/>
            <a:cxnLst/>
            <a:rect l="l" t="t" r="r" b="b"/>
            <a:pathLst>
              <a:path w="2737630" h="1887435">
                <a:moveTo>
                  <a:pt x="0" y="0"/>
                </a:moveTo>
                <a:lnTo>
                  <a:pt x="2737630" y="0"/>
                </a:lnTo>
                <a:lnTo>
                  <a:pt x="2737630" y="1887435"/>
                </a:lnTo>
                <a:lnTo>
                  <a:pt x="0" y="1887435"/>
                </a:lnTo>
                <a:lnTo>
                  <a:pt x="0" y="0"/>
                </a:lnTo>
                <a:close/>
              </a:path>
            </a:pathLst>
          </a:custGeom>
          <a:blipFill>
            <a:blip>
              <a:alphaModFix amt="48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10CDABF5-3F12-51D6-0F7F-B3C67BA4C1AB}"/>
              </a:ext>
            </a:extLst>
          </p:cNvPr>
          <p:cNvSpPr/>
          <p:nvPr/>
        </p:nvSpPr>
        <p:spPr>
          <a:xfrm rot="5339454">
            <a:off x="12668886" y="646279"/>
            <a:ext cx="1062497" cy="1999559"/>
          </a:xfrm>
          <a:custGeom>
            <a:avLst/>
            <a:gdLst/>
            <a:ahLst/>
            <a:cxnLst/>
            <a:rect l="l" t="t" r="r" b="b"/>
            <a:pathLst>
              <a:path w="1062497" h="1999559">
                <a:moveTo>
                  <a:pt x="0" y="0"/>
                </a:moveTo>
                <a:lnTo>
                  <a:pt x="1062496" y="0"/>
                </a:lnTo>
                <a:lnTo>
                  <a:pt x="1062496" y="1999560"/>
                </a:lnTo>
                <a:lnTo>
                  <a:pt x="0" y="199956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7" name="TextBox 20">
            <a:extLst>
              <a:ext uri="{FF2B5EF4-FFF2-40B4-BE49-F238E27FC236}">
                <a16:creationId xmlns:a16="http://schemas.microsoft.com/office/drawing/2014/main" id="{F02E22CD-DC71-2DB6-B48C-A32063773A44}"/>
              </a:ext>
            </a:extLst>
          </p:cNvPr>
          <p:cNvSpPr txBox="1"/>
          <p:nvPr/>
        </p:nvSpPr>
        <p:spPr>
          <a:xfrm>
            <a:off x="914400" y="952500"/>
            <a:ext cx="14637416" cy="1756250"/>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Data cleaning &amp; Preprocessing</a:t>
            </a:r>
          </a:p>
          <a:p>
            <a:pPr algn="l">
              <a:lnSpc>
                <a:spcPts val="6800"/>
              </a:lnSpc>
            </a:pPr>
            <a:endParaRPr lang="en-US" sz="6800" b="1" spc="-374" dirty="0">
              <a:solidFill>
                <a:srgbClr val="000000"/>
              </a:solidFill>
              <a:latin typeface="+mj-lt"/>
              <a:ea typeface="Heading Now 71-78"/>
              <a:cs typeface="Heading Now 71-78"/>
              <a:sym typeface="Heading Now 71-78"/>
            </a:endParaRPr>
          </a:p>
        </p:txBody>
      </p:sp>
      <p:sp>
        <p:nvSpPr>
          <p:cNvPr id="18" name="AutoShape 3">
            <a:extLst>
              <a:ext uri="{FF2B5EF4-FFF2-40B4-BE49-F238E27FC236}">
                <a16:creationId xmlns:a16="http://schemas.microsoft.com/office/drawing/2014/main" id="{C112FCDA-CD12-F0AE-16FE-089E5E7F0A7F}"/>
              </a:ext>
            </a:extLst>
          </p:cNvPr>
          <p:cNvSpPr/>
          <p:nvPr/>
        </p:nvSpPr>
        <p:spPr>
          <a:xfrm>
            <a:off x="990600" y="2038514"/>
            <a:ext cx="6704221" cy="0"/>
          </a:xfrm>
          <a:prstGeom prst="line">
            <a:avLst/>
          </a:prstGeom>
          <a:ln w="38100" cap="flat">
            <a:solidFill>
              <a:srgbClr val="7361BA"/>
            </a:solidFill>
            <a:prstDash val="solid"/>
            <a:headEnd type="none" w="sm" len="sm"/>
            <a:tailEnd type="none" w="sm" len="sm"/>
          </a:ln>
        </p:spPr>
        <p:txBody>
          <a:bodyPr/>
          <a:lstStyle/>
          <a:p>
            <a:endParaRPr lang="en-IN" dirty="0">
              <a:latin typeface="+mj-lt"/>
            </a:endParaRPr>
          </a:p>
        </p:txBody>
      </p:sp>
      <p:sp>
        <p:nvSpPr>
          <p:cNvPr id="29" name="TextBox 28">
            <a:extLst>
              <a:ext uri="{FF2B5EF4-FFF2-40B4-BE49-F238E27FC236}">
                <a16:creationId xmlns:a16="http://schemas.microsoft.com/office/drawing/2014/main" id="{BCC854A2-704B-65B6-74BE-19C218FCFFD4}"/>
              </a:ext>
            </a:extLst>
          </p:cNvPr>
          <p:cNvSpPr txBox="1"/>
          <p:nvPr/>
        </p:nvSpPr>
        <p:spPr>
          <a:xfrm>
            <a:off x="914400" y="2237571"/>
            <a:ext cx="15108196" cy="6840334"/>
          </a:xfrm>
          <a:prstGeom prst="rect">
            <a:avLst/>
          </a:prstGeom>
          <a:noFill/>
        </p:spPr>
        <p:txBody>
          <a:bodyPr wrap="square" rtlCol="0">
            <a:spAutoFit/>
          </a:bodyPr>
          <a:lstStyle/>
          <a:p>
            <a:pPr>
              <a:spcBef>
                <a:spcPts val="300"/>
              </a:spcBef>
            </a:pPr>
            <a:r>
              <a:rPr lang="en-US" sz="2200" u="sng" dirty="0"/>
              <a:t>Data Cleaning</a:t>
            </a:r>
          </a:p>
          <a:p>
            <a:pPr>
              <a:spcBef>
                <a:spcPts val="300"/>
              </a:spcBef>
            </a:pPr>
            <a:r>
              <a:rPr lang="en-US" sz="2200" dirty="0"/>
              <a:t>Handling Missing Values: Attributes with large missing gaps were labeled as “Unknown” to avoid bias. </a:t>
            </a:r>
            <a:endParaRPr lang="en-US" sz="2200" u="sng" dirty="0"/>
          </a:p>
          <a:p>
            <a:pPr>
              <a:spcBef>
                <a:spcPts val="300"/>
              </a:spcBef>
            </a:pPr>
            <a:r>
              <a:rPr lang="en-US" sz="2200" dirty="0"/>
              <a:t>Mode Imputation: Applied to categorical columns with high data density to preserve the original distribution. </a:t>
            </a:r>
          </a:p>
          <a:p>
            <a:pPr>
              <a:spcBef>
                <a:spcPts val="300"/>
              </a:spcBef>
            </a:pPr>
            <a:r>
              <a:rPr lang="en-US" sz="2200" dirty="0"/>
              <a:t>Duplicate Removal: Removed duplicate entries to maintain a unique record for each product. </a:t>
            </a:r>
          </a:p>
          <a:p>
            <a:pPr>
              <a:spcBef>
                <a:spcPts val="300"/>
              </a:spcBef>
            </a:pPr>
            <a:endParaRPr lang="en-US" sz="2200" dirty="0"/>
          </a:p>
          <a:p>
            <a:pPr>
              <a:spcBef>
                <a:spcPts val="300"/>
              </a:spcBef>
            </a:pPr>
            <a:r>
              <a:rPr lang="en-US" sz="2200" u="sng" dirty="0"/>
              <a:t>Data Standardization</a:t>
            </a:r>
          </a:p>
          <a:p>
            <a:pPr>
              <a:spcBef>
                <a:spcPts val="300"/>
              </a:spcBef>
            </a:pPr>
            <a:r>
              <a:rPr lang="en-US" sz="2200" dirty="0"/>
              <a:t>Uniform Labeling: Standardized categorical values to fix case sensitivity and naming variations. </a:t>
            </a:r>
          </a:p>
          <a:p>
            <a:pPr>
              <a:spcBef>
                <a:spcPts val="300"/>
              </a:spcBef>
            </a:pPr>
            <a:r>
              <a:rPr lang="en-US" sz="2200" dirty="0"/>
              <a:t>Spell Checking: Corrected inconsistent labels across attributes. </a:t>
            </a:r>
          </a:p>
          <a:p>
            <a:pPr>
              <a:spcBef>
                <a:spcPts val="300"/>
              </a:spcBef>
            </a:pPr>
            <a:r>
              <a:rPr lang="en-US" sz="2200" dirty="0"/>
              <a:t>Data Type Alignment: Converted columns to consistent formats for proper analysis. </a:t>
            </a:r>
          </a:p>
          <a:p>
            <a:pPr>
              <a:spcBef>
                <a:spcPts val="300"/>
              </a:spcBef>
            </a:pPr>
            <a:endParaRPr lang="en-US" sz="2200" dirty="0"/>
          </a:p>
          <a:p>
            <a:pPr>
              <a:spcBef>
                <a:spcPts val="300"/>
              </a:spcBef>
            </a:pPr>
            <a:r>
              <a:rPr lang="en-US" sz="2200" u="sng" dirty="0"/>
              <a:t>Feature Engineering</a:t>
            </a:r>
          </a:p>
          <a:p>
            <a:pPr>
              <a:spcBef>
                <a:spcPts val="300"/>
              </a:spcBef>
            </a:pPr>
            <a:r>
              <a:rPr lang="en-US" sz="2200" dirty="0"/>
              <a:t>New Feature Created: </a:t>
            </a:r>
            <a:r>
              <a:rPr lang="en-US" sz="2200" dirty="0" err="1"/>
              <a:t>Total_Sales</a:t>
            </a:r>
            <a:r>
              <a:rPr lang="en-US" sz="2200" dirty="0"/>
              <a:t> = Sum of daily sales columns for each </a:t>
            </a:r>
            <a:r>
              <a:rPr lang="en-US" sz="2200" dirty="0" err="1"/>
              <a:t>Dress_ID</a:t>
            </a:r>
            <a:r>
              <a:rPr lang="en-US" sz="2200" dirty="0"/>
              <a:t> </a:t>
            </a:r>
          </a:p>
          <a:p>
            <a:pPr>
              <a:spcBef>
                <a:spcPts val="300"/>
              </a:spcBef>
            </a:pPr>
            <a:r>
              <a:rPr lang="en-US" sz="2200" dirty="0"/>
              <a:t>This metric helps evaluate overall product performance. </a:t>
            </a:r>
          </a:p>
          <a:p>
            <a:pPr>
              <a:spcBef>
                <a:spcPts val="300"/>
              </a:spcBef>
            </a:pPr>
            <a:endParaRPr lang="en-US" sz="2200" dirty="0"/>
          </a:p>
          <a:p>
            <a:pPr>
              <a:spcBef>
                <a:spcPts val="300"/>
              </a:spcBef>
            </a:pPr>
            <a:r>
              <a:rPr lang="en-US" sz="2200" u="sng" dirty="0"/>
              <a:t>Data Integration</a:t>
            </a:r>
          </a:p>
          <a:p>
            <a:pPr>
              <a:spcBef>
                <a:spcPts val="300"/>
              </a:spcBef>
            </a:pPr>
            <a:r>
              <a:rPr lang="en-US" sz="2200" dirty="0"/>
              <a:t>Dataset Merge: Combined Dress Attributes dataset with Sales dataset. </a:t>
            </a:r>
          </a:p>
          <a:p>
            <a:pPr>
              <a:spcBef>
                <a:spcPts val="300"/>
              </a:spcBef>
            </a:pPr>
            <a:r>
              <a:rPr lang="en-US" sz="2200" dirty="0"/>
              <a:t>Join Method: Used </a:t>
            </a:r>
            <a:r>
              <a:rPr lang="en-US" sz="2200" dirty="0" err="1"/>
              <a:t>Dress_ID</a:t>
            </a:r>
            <a:r>
              <a:rPr lang="en-US" sz="2200" dirty="0"/>
              <a:t> as the primary key. </a:t>
            </a:r>
          </a:p>
          <a:p>
            <a:pPr>
              <a:spcBef>
                <a:spcPts val="300"/>
              </a:spcBef>
            </a:pPr>
            <a:r>
              <a:rPr lang="en-US" sz="2200" dirty="0"/>
              <a:t>Result: Created a Master Dataset linking product features with sales performance. </a:t>
            </a:r>
          </a:p>
        </p:txBody>
      </p:sp>
      <p:sp>
        <p:nvSpPr>
          <p:cNvPr id="32" name="Rectangle 5">
            <a:extLst>
              <a:ext uri="{FF2B5EF4-FFF2-40B4-BE49-F238E27FC236}">
                <a16:creationId xmlns:a16="http://schemas.microsoft.com/office/drawing/2014/main" id="{C535F08A-9943-0C4D-0C27-85EE3B47EC3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Freeform 7">
            <a:extLst>
              <a:ext uri="{FF2B5EF4-FFF2-40B4-BE49-F238E27FC236}">
                <a16:creationId xmlns:a16="http://schemas.microsoft.com/office/drawing/2014/main" id="{35011BED-30F5-12A2-D0DB-077D505A4113}"/>
              </a:ext>
            </a:extLst>
          </p:cNvPr>
          <p:cNvSpPr/>
          <p:nvPr/>
        </p:nvSpPr>
        <p:spPr>
          <a:xfrm>
            <a:off x="13411200" y="5066243"/>
            <a:ext cx="4669213" cy="5245002"/>
          </a:xfrm>
          <a:custGeom>
            <a:avLst/>
            <a:gdLst/>
            <a:ahLst/>
            <a:cxnLst/>
            <a:rect l="l" t="t" r="r" b="b"/>
            <a:pathLst>
              <a:path w="4669213" h="5245002">
                <a:moveTo>
                  <a:pt x="0" y="0"/>
                </a:moveTo>
                <a:lnTo>
                  <a:pt x="4669213" y="0"/>
                </a:lnTo>
                <a:lnTo>
                  <a:pt x="4669213" y="5245003"/>
                </a:lnTo>
                <a:lnTo>
                  <a:pt x="0" y="524500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latin typeface="+mj-lt"/>
            </a:endParaRPr>
          </a:p>
        </p:txBody>
      </p:sp>
    </p:spTree>
    <p:extLst>
      <p:ext uri="{BB962C8B-B14F-4D97-AF65-F5344CB8AC3E}">
        <p14:creationId xmlns:p14="http://schemas.microsoft.com/office/powerpoint/2010/main" val="601453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7"/>
          <p:cNvSpPr/>
          <p:nvPr/>
        </p:nvSpPr>
        <p:spPr>
          <a:xfrm rot="-10800000">
            <a:off x="15255219" y="8309078"/>
            <a:ext cx="2004081" cy="2643272"/>
          </a:xfrm>
          <a:custGeom>
            <a:avLst/>
            <a:gdLst/>
            <a:ahLst/>
            <a:cxnLst/>
            <a:rect l="l" t="t" r="r" b="b"/>
            <a:pathLst>
              <a:path w="2004081" h="2643272">
                <a:moveTo>
                  <a:pt x="0" y="0"/>
                </a:moveTo>
                <a:lnTo>
                  <a:pt x="2004081" y="0"/>
                </a:lnTo>
                <a:lnTo>
                  <a:pt x="2004081" y="2643272"/>
                </a:lnTo>
                <a:lnTo>
                  <a:pt x="0" y="264327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8" name="Group 8"/>
          <p:cNvGrpSpPr/>
          <p:nvPr/>
        </p:nvGrpSpPr>
        <p:grpSpPr>
          <a:xfrm>
            <a:off x="1028700" y="2476500"/>
            <a:ext cx="9334500" cy="6629400"/>
            <a:chOff x="0" y="0"/>
            <a:chExt cx="1985696" cy="1401066"/>
          </a:xfrm>
        </p:grpSpPr>
        <p:sp>
          <p:nvSpPr>
            <p:cNvPr id="9" name="Freeform 9"/>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10" name="TextBox 10"/>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sp>
        <p:nvSpPr>
          <p:cNvPr id="24" name="TextBox 24"/>
          <p:cNvSpPr txBox="1"/>
          <p:nvPr/>
        </p:nvSpPr>
        <p:spPr>
          <a:xfrm>
            <a:off x="1234878" y="923866"/>
            <a:ext cx="98903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Total Sales Distribution</a:t>
            </a:r>
          </a:p>
        </p:txBody>
      </p:sp>
      <p:pic>
        <p:nvPicPr>
          <p:cNvPr id="39" name="Picture 38">
            <a:extLst>
              <a:ext uri="{FF2B5EF4-FFF2-40B4-BE49-F238E27FC236}">
                <a16:creationId xmlns:a16="http://schemas.microsoft.com/office/drawing/2014/main" id="{FD167F86-CD26-4983-AEFE-C4B2CFFAAE3F}"/>
              </a:ext>
            </a:extLst>
          </p:cNvPr>
          <p:cNvPicPr>
            <a:picLocks noChangeAspect="1"/>
          </p:cNvPicPr>
          <p:nvPr/>
        </p:nvPicPr>
        <p:blipFill>
          <a:blip r:embed="rId3"/>
          <a:stretch>
            <a:fillRect/>
          </a:stretch>
        </p:blipFill>
        <p:spPr>
          <a:xfrm>
            <a:off x="1091945" y="2857500"/>
            <a:ext cx="9250473" cy="5865979"/>
          </a:xfrm>
          <a:prstGeom prst="rect">
            <a:avLst/>
          </a:prstGeom>
        </p:spPr>
      </p:pic>
      <p:sp>
        <p:nvSpPr>
          <p:cNvPr id="41" name="TextBox 40">
            <a:extLst>
              <a:ext uri="{FF2B5EF4-FFF2-40B4-BE49-F238E27FC236}">
                <a16:creationId xmlns:a16="http://schemas.microsoft.com/office/drawing/2014/main" id="{639C1568-BC0D-A550-EEE9-2D6C54D6AA80}"/>
              </a:ext>
            </a:extLst>
          </p:cNvPr>
          <p:cNvSpPr txBox="1"/>
          <p:nvPr/>
        </p:nvSpPr>
        <p:spPr>
          <a:xfrm>
            <a:off x="10744200" y="3435340"/>
            <a:ext cx="6515100" cy="3046988"/>
          </a:xfrm>
          <a:prstGeom prst="rect">
            <a:avLst/>
          </a:prstGeom>
          <a:noFill/>
        </p:spPr>
        <p:txBody>
          <a:bodyPr wrap="square" rtlCol="0">
            <a:spAutoFit/>
          </a:bodyPr>
          <a:lstStyle/>
          <a:p>
            <a:r>
              <a:rPr lang="en-US" sz="2400" b="1" dirty="0"/>
              <a:t>Insights :</a:t>
            </a:r>
          </a:p>
          <a:p>
            <a:endParaRPr lang="en-US" sz="2400" dirty="0"/>
          </a:p>
          <a:p>
            <a:pPr marL="342900" indent="-342900">
              <a:buFont typeface="Arial" panose="020B0604020202020204" pitchFamily="34" charset="0"/>
              <a:buChar char="•"/>
            </a:pPr>
            <a:r>
              <a:rPr lang="en-US" sz="2400" dirty="0"/>
              <a:t>The sales distribution is right-skewed, meaning most products have low to moderate sales. </a:t>
            </a:r>
          </a:p>
          <a:p>
            <a:pPr marL="342900" indent="-342900">
              <a:buFont typeface="Arial" panose="020B0604020202020204" pitchFamily="34" charset="0"/>
              <a:buChar char="•"/>
            </a:pPr>
            <a:r>
              <a:rPr lang="en-US" sz="2400" dirty="0"/>
              <a:t>A small number of products achieve very high sales, indicating top-performing items. </a:t>
            </a:r>
          </a:p>
          <a:p>
            <a:pPr marL="342900" indent="-342900">
              <a:buFont typeface="Arial" panose="020B0604020202020204" pitchFamily="34" charset="0"/>
              <a:buChar char="•"/>
            </a:pPr>
            <a:r>
              <a:rPr lang="en-US" sz="2400" dirty="0"/>
              <a:t>This pattern is common in e-commerce, where few products generate most of the revenue.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FEA1-B82B-8946-8354-975674D3A79E}"/>
            </a:ext>
          </a:extLst>
        </p:cNvPr>
        <p:cNvGrpSpPr/>
        <p:nvPr/>
      </p:nvGrpSpPr>
      <p:grpSpPr>
        <a:xfrm>
          <a:off x="0" y="0"/>
          <a:ext cx="0" cy="0"/>
          <a:chOff x="0" y="0"/>
          <a:chExt cx="0" cy="0"/>
        </a:xfrm>
      </p:grpSpPr>
      <p:sp>
        <p:nvSpPr>
          <p:cNvPr id="24" name="TextBox 24">
            <a:extLst>
              <a:ext uri="{FF2B5EF4-FFF2-40B4-BE49-F238E27FC236}">
                <a16:creationId xmlns:a16="http://schemas.microsoft.com/office/drawing/2014/main" id="{229DE1A2-A22B-0518-315B-1AC8CEDAE363}"/>
              </a:ext>
            </a:extLst>
          </p:cNvPr>
          <p:cNvSpPr txBox="1"/>
          <p:nvPr/>
        </p:nvSpPr>
        <p:spPr>
          <a:xfrm>
            <a:off x="1234878" y="923866"/>
            <a:ext cx="98903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Most Frequent Dress Styles</a:t>
            </a:r>
          </a:p>
        </p:txBody>
      </p:sp>
      <p:sp>
        <p:nvSpPr>
          <p:cNvPr id="41" name="TextBox 40">
            <a:extLst>
              <a:ext uri="{FF2B5EF4-FFF2-40B4-BE49-F238E27FC236}">
                <a16:creationId xmlns:a16="http://schemas.microsoft.com/office/drawing/2014/main" id="{150452B8-3896-6DD8-8F21-0B8B508B31DC}"/>
              </a:ext>
            </a:extLst>
          </p:cNvPr>
          <p:cNvSpPr txBox="1"/>
          <p:nvPr/>
        </p:nvSpPr>
        <p:spPr>
          <a:xfrm>
            <a:off x="10744200" y="2476500"/>
            <a:ext cx="7086600" cy="6629400"/>
          </a:xfrm>
          <a:prstGeom prst="rect">
            <a:avLst/>
          </a:prstGeom>
          <a:noFill/>
        </p:spPr>
        <p:txBody>
          <a:bodyPr wrap="square" rtlCol="0">
            <a:spAutoFit/>
          </a:bodyPr>
          <a:lstStyle/>
          <a:p>
            <a:endParaRPr lang="en-IN" dirty="0"/>
          </a:p>
        </p:txBody>
      </p:sp>
      <p:grpSp>
        <p:nvGrpSpPr>
          <p:cNvPr id="2" name="Group 8">
            <a:extLst>
              <a:ext uri="{FF2B5EF4-FFF2-40B4-BE49-F238E27FC236}">
                <a16:creationId xmlns:a16="http://schemas.microsoft.com/office/drawing/2014/main" id="{233E44BF-7191-AC27-B8C0-A0FBA0EBAC26}"/>
              </a:ext>
            </a:extLst>
          </p:cNvPr>
          <p:cNvGrpSpPr/>
          <p:nvPr/>
        </p:nvGrpSpPr>
        <p:grpSpPr>
          <a:xfrm>
            <a:off x="8267700" y="2781300"/>
            <a:ext cx="9334500" cy="6096000"/>
            <a:chOff x="0" y="0"/>
            <a:chExt cx="1985696" cy="1401066"/>
          </a:xfrm>
        </p:grpSpPr>
        <p:sp>
          <p:nvSpPr>
            <p:cNvPr id="3" name="Freeform 9">
              <a:extLst>
                <a:ext uri="{FF2B5EF4-FFF2-40B4-BE49-F238E27FC236}">
                  <a16:creationId xmlns:a16="http://schemas.microsoft.com/office/drawing/2014/main" id="{92A82668-083A-7297-08C4-A6F91BFB0A75}"/>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4" name="TextBox 10">
              <a:extLst>
                <a:ext uri="{FF2B5EF4-FFF2-40B4-BE49-F238E27FC236}">
                  <a16:creationId xmlns:a16="http://schemas.microsoft.com/office/drawing/2014/main" id="{814A52F1-97B6-C35E-48F4-BE988973BD9A}"/>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pic>
        <p:nvPicPr>
          <p:cNvPr id="5" name="Picture 4">
            <a:extLst>
              <a:ext uri="{FF2B5EF4-FFF2-40B4-BE49-F238E27FC236}">
                <a16:creationId xmlns:a16="http://schemas.microsoft.com/office/drawing/2014/main" id="{1E7504E2-23A2-995F-5C6F-C56F992579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30945" y="3266613"/>
            <a:ext cx="9250473" cy="5047751"/>
          </a:xfrm>
          <a:prstGeom prst="rect">
            <a:avLst/>
          </a:prstGeom>
        </p:spPr>
      </p:pic>
      <p:sp>
        <p:nvSpPr>
          <p:cNvPr id="6" name="TextBox 5">
            <a:extLst>
              <a:ext uri="{FF2B5EF4-FFF2-40B4-BE49-F238E27FC236}">
                <a16:creationId xmlns:a16="http://schemas.microsoft.com/office/drawing/2014/main" id="{16B785FB-579D-98E6-59C5-615E1F62D1B1}"/>
              </a:ext>
            </a:extLst>
          </p:cNvPr>
          <p:cNvSpPr txBox="1"/>
          <p:nvPr/>
        </p:nvSpPr>
        <p:spPr>
          <a:xfrm>
            <a:off x="840014" y="3250674"/>
            <a:ext cx="7162800" cy="3416320"/>
          </a:xfrm>
          <a:prstGeom prst="rect">
            <a:avLst/>
          </a:prstGeom>
          <a:noFill/>
        </p:spPr>
        <p:txBody>
          <a:bodyPr wrap="square" rtlCol="0">
            <a:spAutoFit/>
          </a:bodyPr>
          <a:lstStyle/>
          <a:p>
            <a:r>
              <a:rPr lang="en-US" sz="2400" b="1" dirty="0"/>
              <a:t>Insights:</a:t>
            </a:r>
          </a:p>
          <a:p>
            <a:endParaRPr lang="en-US" sz="2400" dirty="0"/>
          </a:p>
          <a:p>
            <a:pPr marL="342900" indent="-342900">
              <a:buFont typeface="Arial" panose="020B0604020202020204" pitchFamily="34" charset="0"/>
              <a:buChar char="•"/>
            </a:pPr>
            <a:r>
              <a:rPr lang="en-US" sz="2400" dirty="0"/>
              <a:t>Casual and Sexy styles appear most frequently in the dataset. </a:t>
            </a:r>
          </a:p>
          <a:p>
            <a:pPr marL="342900" indent="-342900">
              <a:buFont typeface="Arial" panose="020B0604020202020204" pitchFamily="34" charset="0"/>
              <a:buChar char="•"/>
            </a:pPr>
            <a:r>
              <a:rPr lang="en-US" sz="2400" dirty="0"/>
              <a:t>Other styles such as Vintage and Novelty occur less often. </a:t>
            </a:r>
          </a:p>
          <a:p>
            <a:pPr marL="342900" indent="-342900">
              <a:buFont typeface="Arial" panose="020B0604020202020204" pitchFamily="34" charset="0"/>
              <a:buChar char="•"/>
            </a:pPr>
            <a:r>
              <a:rPr lang="en-US" sz="2400" dirty="0"/>
              <a:t>The product catalog mainly focuses on everyday fashion styles.</a:t>
            </a:r>
          </a:p>
          <a:p>
            <a:endParaRPr lang="en-IN" sz="2400" dirty="0"/>
          </a:p>
        </p:txBody>
      </p:sp>
    </p:spTree>
    <p:extLst>
      <p:ext uri="{BB962C8B-B14F-4D97-AF65-F5344CB8AC3E}">
        <p14:creationId xmlns:p14="http://schemas.microsoft.com/office/powerpoint/2010/main" val="1706811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64DB4-353A-D37C-0096-2EA3CBAA8C93}"/>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C9BE1D92-7E35-40AB-2CA4-8CEB725A21C8}"/>
              </a:ext>
            </a:extLst>
          </p:cNvPr>
          <p:cNvSpPr/>
          <p:nvPr/>
        </p:nvSpPr>
        <p:spPr>
          <a:xfrm rot="-10800000">
            <a:off x="15255219" y="8309078"/>
            <a:ext cx="2004081" cy="2643272"/>
          </a:xfrm>
          <a:custGeom>
            <a:avLst/>
            <a:gdLst/>
            <a:ahLst/>
            <a:cxnLst/>
            <a:rect l="l" t="t" r="r" b="b"/>
            <a:pathLst>
              <a:path w="2004081" h="2643272">
                <a:moveTo>
                  <a:pt x="0" y="0"/>
                </a:moveTo>
                <a:lnTo>
                  <a:pt x="2004081" y="0"/>
                </a:lnTo>
                <a:lnTo>
                  <a:pt x="2004081" y="2643272"/>
                </a:lnTo>
                <a:lnTo>
                  <a:pt x="0" y="264327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8" name="Group 8">
            <a:extLst>
              <a:ext uri="{FF2B5EF4-FFF2-40B4-BE49-F238E27FC236}">
                <a16:creationId xmlns:a16="http://schemas.microsoft.com/office/drawing/2014/main" id="{89CAD2A6-4C58-78D8-D884-8AF2C8258206}"/>
              </a:ext>
            </a:extLst>
          </p:cNvPr>
          <p:cNvGrpSpPr/>
          <p:nvPr/>
        </p:nvGrpSpPr>
        <p:grpSpPr>
          <a:xfrm>
            <a:off x="685800" y="2552700"/>
            <a:ext cx="9867900" cy="6553200"/>
            <a:chOff x="0" y="0"/>
            <a:chExt cx="1985696" cy="1401066"/>
          </a:xfrm>
        </p:grpSpPr>
        <p:sp>
          <p:nvSpPr>
            <p:cNvPr id="9" name="Freeform 9">
              <a:extLst>
                <a:ext uri="{FF2B5EF4-FFF2-40B4-BE49-F238E27FC236}">
                  <a16:creationId xmlns:a16="http://schemas.microsoft.com/office/drawing/2014/main" id="{7C969B20-AA2C-16C5-64FE-0BC592CAF6EE}"/>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10" name="TextBox 10">
              <a:extLst>
                <a:ext uri="{FF2B5EF4-FFF2-40B4-BE49-F238E27FC236}">
                  <a16:creationId xmlns:a16="http://schemas.microsoft.com/office/drawing/2014/main" id="{0AB1E66A-5F53-91FB-D99A-C3D72E0B1DC5}"/>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sp>
        <p:nvSpPr>
          <p:cNvPr id="24" name="TextBox 24">
            <a:extLst>
              <a:ext uri="{FF2B5EF4-FFF2-40B4-BE49-F238E27FC236}">
                <a16:creationId xmlns:a16="http://schemas.microsoft.com/office/drawing/2014/main" id="{0989D0E5-3D4A-6238-961C-C64473724946}"/>
              </a:ext>
            </a:extLst>
          </p:cNvPr>
          <p:cNvSpPr txBox="1"/>
          <p:nvPr/>
        </p:nvSpPr>
        <p:spPr>
          <a:xfrm>
            <a:off x="1234878" y="923866"/>
            <a:ext cx="134717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Product Distribution by Price Category</a:t>
            </a:r>
          </a:p>
        </p:txBody>
      </p:sp>
      <p:pic>
        <p:nvPicPr>
          <p:cNvPr id="39" name="Picture 38">
            <a:extLst>
              <a:ext uri="{FF2B5EF4-FFF2-40B4-BE49-F238E27FC236}">
                <a16:creationId xmlns:a16="http://schemas.microsoft.com/office/drawing/2014/main" id="{6EF72977-3C21-F705-5512-88F393F743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9045" y="3032179"/>
            <a:ext cx="9652255" cy="5756225"/>
          </a:xfrm>
          <a:prstGeom prst="rect">
            <a:avLst/>
          </a:prstGeom>
        </p:spPr>
      </p:pic>
      <p:sp>
        <p:nvSpPr>
          <p:cNvPr id="41" name="TextBox 40">
            <a:extLst>
              <a:ext uri="{FF2B5EF4-FFF2-40B4-BE49-F238E27FC236}">
                <a16:creationId xmlns:a16="http://schemas.microsoft.com/office/drawing/2014/main" id="{EB599047-335D-531E-117D-E8D06F894CA4}"/>
              </a:ext>
            </a:extLst>
          </p:cNvPr>
          <p:cNvSpPr txBox="1"/>
          <p:nvPr/>
        </p:nvSpPr>
        <p:spPr>
          <a:xfrm>
            <a:off x="10896600" y="3771900"/>
            <a:ext cx="6858000" cy="4893647"/>
          </a:xfrm>
          <a:prstGeom prst="rect">
            <a:avLst/>
          </a:prstGeom>
          <a:noFill/>
        </p:spPr>
        <p:txBody>
          <a:bodyPr wrap="square" rtlCol="0">
            <a:spAutoFit/>
          </a:bodyPr>
          <a:lstStyle/>
          <a:p>
            <a:r>
              <a:rPr lang="en-IN" sz="2400" b="1" dirty="0"/>
              <a:t>Insights:</a:t>
            </a:r>
          </a:p>
          <a:p>
            <a:endParaRPr lang="en-IN" sz="2400" dirty="0"/>
          </a:p>
          <a:p>
            <a:pPr marL="285750" indent="-285750">
              <a:buFont typeface="Arial" panose="020B0604020202020204" pitchFamily="34" charset="0"/>
              <a:buChar char="•"/>
            </a:pPr>
            <a:r>
              <a:rPr lang="en-IN" sz="2400" dirty="0"/>
              <a:t>This is a grouped bar chart and shows a combined impact of Price point and Seasonality on Total Sales.</a:t>
            </a:r>
          </a:p>
          <a:p>
            <a:pPr marL="285750" indent="-285750">
              <a:buFont typeface="Arial" panose="020B0604020202020204" pitchFamily="34" charset="0"/>
              <a:buChar char="•"/>
            </a:pPr>
            <a:r>
              <a:rPr lang="en-IN" sz="2400" dirty="0"/>
              <a:t>There is a consistent performance of ‘Low’ Priced items.</a:t>
            </a:r>
          </a:p>
          <a:p>
            <a:pPr marL="285750" indent="-285750">
              <a:buFont typeface="Arial" panose="020B0604020202020204" pitchFamily="34" charset="0"/>
              <a:buChar char="•"/>
            </a:pPr>
            <a:r>
              <a:rPr lang="en-IN" sz="2400" dirty="0"/>
              <a:t>Seasonal spikes for ‘Average’ and ‘High’ Priced items. </a:t>
            </a:r>
          </a:p>
          <a:p>
            <a:pPr marL="285750" indent="-285750">
              <a:buFont typeface="Arial" panose="020B0604020202020204" pitchFamily="34" charset="0"/>
              <a:buChar char="•"/>
            </a:pPr>
            <a:r>
              <a:rPr lang="en-IN" sz="2400" dirty="0"/>
              <a:t>Price sensitivity may change seasonally, and there might be periods where customers are more willing to purchase higher-priced goods.</a:t>
            </a:r>
          </a:p>
          <a:p>
            <a:pPr marL="2857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233526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3FDEB-0CBB-76FD-A899-D591721B8C63}"/>
            </a:ext>
          </a:extLst>
        </p:cNvPr>
        <p:cNvGrpSpPr/>
        <p:nvPr/>
      </p:nvGrpSpPr>
      <p:grpSpPr>
        <a:xfrm>
          <a:off x="0" y="0"/>
          <a:ext cx="0" cy="0"/>
          <a:chOff x="0" y="0"/>
          <a:chExt cx="0" cy="0"/>
        </a:xfrm>
      </p:grpSpPr>
      <p:sp>
        <p:nvSpPr>
          <p:cNvPr id="24" name="TextBox 24">
            <a:extLst>
              <a:ext uri="{FF2B5EF4-FFF2-40B4-BE49-F238E27FC236}">
                <a16:creationId xmlns:a16="http://schemas.microsoft.com/office/drawing/2014/main" id="{702242DB-6FBA-3AC2-A131-AEC0F2663AA0}"/>
              </a:ext>
            </a:extLst>
          </p:cNvPr>
          <p:cNvSpPr txBox="1"/>
          <p:nvPr/>
        </p:nvSpPr>
        <p:spPr>
          <a:xfrm>
            <a:off x="1234878" y="923866"/>
            <a:ext cx="153005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Customer Ratings by Recommendation Status</a:t>
            </a:r>
          </a:p>
        </p:txBody>
      </p:sp>
      <p:sp>
        <p:nvSpPr>
          <p:cNvPr id="41" name="TextBox 40">
            <a:extLst>
              <a:ext uri="{FF2B5EF4-FFF2-40B4-BE49-F238E27FC236}">
                <a16:creationId xmlns:a16="http://schemas.microsoft.com/office/drawing/2014/main" id="{ED5D17AE-D32D-445A-001A-D82E6B59DCC9}"/>
              </a:ext>
            </a:extLst>
          </p:cNvPr>
          <p:cNvSpPr txBox="1"/>
          <p:nvPr/>
        </p:nvSpPr>
        <p:spPr>
          <a:xfrm>
            <a:off x="10744200" y="2476500"/>
            <a:ext cx="7086600" cy="6629400"/>
          </a:xfrm>
          <a:prstGeom prst="rect">
            <a:avLst/>
          </a:prstGeom>
          <a:noFill/>
        </p:spPr>
        <p:txBody>
          <a:bodyPr wrap="square" rtlCol="0">
            <a:spAutoFit/>
          </a:bodyPr>
          <a:lstStyle/>
          <a:p>
            <a:endParaRPr lang="en-IN" dirty="0"/>
          </a:p>
        </p:txBody>
      </p:sp>
      <p:grpSp>
        <p:nvGrpSpPr>
          <p:cNvPr id="2" name="Group 8">
            <a:extLst>
              <a:ext uri="{FF2B5EF4-FFF2-40B4-BE49-F238E27FC236}">
                <a16:creationId xmlns:a16="http://schemas.microsoft.com/office/drawing/2014/main" id="{4C3851C1-463B-FC5C-9E24-2F8DD75A671C}"/>
              </a:ext>
            </a:extLst>
          </p:cNvPr>
          <p:cNvGrpSpPr/>
          <p:nvPr/>
        </p:nvGrpSpPr>
        <p:grpSpPr>
          <a:xfrm>
            <a:off x="8267700" y="2781300"/>
            <a:ext cx="9334500" cy="6096000"/>
            <a:chOff x="0" y="0"/>
            <a:chExt cx="1985696" cy="1401066"/>
          </a:xfrm>
        </p:grpSpPr>
        <p:sp>
          <p:nvSpPr>
            <p:cNvPr id="3" name="Freeform 9">
              <a:extLst>
                <a:ext uri="{FF2B5EF4-FFF2-40B4-BE49-F238E27FC236}">
                  <a16:creationId xmlns:a16="http://schemas.microsoft.com/office/drawing/2014/main" id="{5DF34F12-7264-5DCC-B67D-730E9C3A6684}"/>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4" name="TextBox 10">
              <a:extLst>
                <a:ext uri="{FF2B5EF4-FFF2-40B4-BE49-F238E27FC236}">
                  <a16:creationId xmlns:a16="http://schemas.microsoft.com/office/drawing/2014/main" id="{CF5C98B1-BC99-A8C5-8CF0-146024D92DC1}"/>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pic>
        <p:nvPicPr>
          <p:cNvPr id="5" name="Picture 4">
            <a:extLst>
              <a:ext uri="{FF2B5EF4-FFF2-40B4-BE49-F238E27FC236}">
                <a16:creationId xmlns:a16="http://schemas.microsoft.com/office/drawing/2014/main" id="{CDC66936-130A-A29B-5A04-17D37F53BEE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572500" y="3017020"/>
            <a:ext cx="8975749" cy="5707879"/>
          </a:xfrm>
          <a:prstGeom prst="rect">
            <a:avLst/>
          </a:prstGeom>
        </p:spPr>
      </p:pic>
      <p:sp>
        <p:nvSpPr>
          <p:cNvPr id="6" name="TextBox 5">
            <a:extLst>
              <a:ext uri="{FF2B5EF4-FFF2-40B4-BE49-F238E27FC236}">
                <a16:creationId xmlns:a16="http://schemas.microsoft.com/office/drawing/2014/main" id="{AB402C63-E9D4-3357-B1B0-4693D3905A8D}"/>
              </a:ext>
            </a:extLst>
          </p:cNvPr>
          <p:cNvSpPr txBox="1"/>
          <p:nvPr/>
        </p:nvSpPr>
        <p:spPr>
          <a:xfrm>
            <a:off x="871537" y="3619500"/>
            <a:ext cx="7162800" cy="3785652"/>
          </a:xfrm>
          <a:prstGeom prst="rect">
            <a:avLst/>
          </a:prstGeom>
          <a:noFill/>
        </p:spPr>
        <p:txBody>
          <a:bodyPr wrap="square" rtlCol="0">
            <a:spAutoFit/>
          </a:bodyPr>
          <a:lstStyle/>
          <a:p>
            <a:r>
              <a:rPr lang="en-US" sz="2400" b="1" dirty="0">
                <a:latin typeface="+mj-lt"/>
              </a:rPr>
              <a:t>Insights:</a:t>
            </a:r>
            <a:endParaRPr lang="en-US" sz="2400" dirty="0">
              <a:latin typeface="+mj-lt"/>
            </a:endParaRPr>
          </a:p>
          <a:p>
            <a:pPr lvl="0" eaLnBrk="0" fontAlgn="base" hangingPunct="0">
              <a:spcBef>
                <a:spcPct val="0"/>
              </a:spcBef>
              <a:spcAft>
                <a:spcPct val="0"/>
              </a:spcAft>
            </a:pPr>
            <a:endParaRPr lang="en-US" altLang="en-US" sz="2400" dirty="0">
              <a:latin typeface="+mj-lt"/>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mj-lt"/>
              </a:rPr>
              <a:t>Recommended products tend to have </a:t>
            </a:r>
            <a:r>
              <a:rPr lang="en-US" altLang="en-US" sz="2400" b="1" dirty="0">
                <a:latin typeface="+mj-lt"/>
              </a:rPr>
              <a:t>higher customer ratings</a:t>
            </a:r>
            <a:r>
              <a:rPr lang="en-US" altLang="en-US" sz="2400" dirty="0">
                <a:latin typeface="+mj-lt"/>
              </a:rPr>
              <a:t>. </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mj-lt"/>
              </a:rPr>
              <a:t>Recommendation system acts as a Quality filter.</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mj-lt"/>
              </a:rPr>
              <a:t>Non-recommended products show greater rating variability. </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mj-lt"/>
              </a:rPr>
              <a:t>This suggests the recommendation system promotes </a:t>
            </a:r>
            <a:r>
              <a:rPr lang="en-US" altLang="en-US" sz="2400" b="1" dirty="0">
                <a:latin typeface="+mj-lt"/>
              </a:rPr>
              <a:t>higher-quality products</a:t>
            </a:r>
            <a:r>
              <a:rPr lang="en-US" altLang="en-US" sz="2400" dirty="0">
                <a:latin typeface="+mj-lt"/>
              </a:rPr>
              <a:t>. </a:t>
            </a:r>
          </a:p>
          <a:p>
            <a:endParaRPr lang="en-IN" sz="2400" dirty="0">
              <a:latin typeface="+mj-lt"/>
            </a:endParaRPr>
          </a:p>
        </p:txBody>
      </p:sp>
    </p:spTree>
    <p:extLst>
      <p:ext uri="{BB962C8B-B14F-4D97-AF65-F5344CB8AC3E}">
        <p14:creationId xmlns:p14="http://schemas.microsoft.com/office/powerpoint/2010/main" val="1444034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70B60-1E3C-C06B-BCB7-359655DF8515}"/>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D3AFB6BA-6174-6D9F-5E3D-A8DB80B6850D}"/>
              </a:ext>
            </a:extLst>
          </p:cNvPr>
          <p:cNvSpPr/>
          <p:nvPr/>
        </p:nvSpPr>
        <p:spPr>
          <a:xfrm rot="-10800000">
            <a:off x="15255219" y="8309078"/>
            <a:ext cx="2004081" cy="2643272"/>
          </a:xfrm>
          <a:custGeom>
            <a:avLst/>
            <a:gdLst/>
            <a:ahLst/>
            <a:cxnLst/>
            <a:rect l="l" t="t" r="r" b="b"/>
            <a:pathLst>
              <a:path w="2004081" h="2643272">
                <a:moveTo>
                  <a:pt x="0" y="0"/>
                </a:moveTo>
                <a:lnTo>
                  <a:pt x="2004081" y="0"/>
                </a:lnTo>
                <a:lnTo>
                  <a:pt x="2004081" y="2643272"/>
                </a:lnTo>
                <a:lnTo>
                  <a:pt x="0" y="264327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8" name="Group 8">
            <a:extLst>
              <a:ext uri="{FF2B5EF4-FFF2-40B4-BE49-F238E27FC236}">
                <a16:creationId xmlns:a16="http://schemas.microsoft.com/office/drawing/2014/main" id="{6049DED5-5C3F-2905-0896-40E9316FAE87}"/>
              </a:ext>
            </a:extLst>
          </p:cNvPr>
          <p:cNvGrpSpPr/>
          <p:nvPr/>
        </p:nvGrpSpPr>
        <p:grpSpPr>
          <a:xfrm>
            <a:off x="561975" y="2523023"/>
            <a:ext cx="10134600" cy="7391400"/>
            <a:chOff x="0" y="0"/>
            <a:chExt cx="1985696" cy="1401066"/>
          </a:xfrm>
        </p:grpSpPr>
        <p:sp>
          <p:nvSpPr>
            <p:cNvPr id="9" name="Freeform 9">
              <a:extLst>
                <a:ext uri="{FF2B5EF4-FFF2-40B4-BE49-F238E27FC236}">
                  <a16:creationId xmlns:a16="http://schemas.microsoft.com/office/drawing/2014/main" id="{B4820F7D-1EB7-E580-12B5-74B6CF16E155}"/>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10" name="TextBox 10">
              <a:extLst>
                <a:ext uri="{FF2B5EF4-FFF2-40B4-BE49-F238E27FC236}">
                  <a16:creationId xmlns:a16="http://schemas.microsoft.com/office/drawing/2014/main" id="{D2068FD8-9130-9AE2-9477-5506DC172CDD}"/>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sp>
        <p:nvSpPr>
          <p:cNvPr id="24" name="TextBox 24">
            <a:extLst>
              <a:ext uri="{FF2B5EF4-FFF2-40B4-BE49-F238E27FC236}">
                <a16:creationId xmlns:a16="http://schemas.microsoft.com/office/drawing/2014/main" id="{CE115364-4F0C-B298-5D02-2786E443B4AD}"/>
              </a:ext>
            </a:extLst>
          </p:cNvPr>
          <p:cNvSpPr txBox="1"/>
          <p:nvPr/>
        </p:nvSpPr>
        <p:spPr>
          <a:xfrm>
            <a:off x="1234878" y="923866"/>
            <a:ext cx="134717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Sales Performance by Material Type</a:t>
            </a:r>
          </a:p>
        </p:txBody>
      </p:sp>
      <p:pic>
        <p:nvPicPr>
          <p:cNvPr id="39" name="Picture 38">
            <a:extLst>
              <a:ext uri="{FF2B5EF4-FFF2-40B4-BE49-F238E27FC236}">
                <a16:creationId xmlns:a16="http://schemas.microsoft.com/office/drawing/2014/main" id="{01BCDC73-9622-148E-FCE1-D66A4EB8F41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7176" y="2924658"/>
            <a:ext cx="10004197" cy="6588130"/>
          </a:xfrm>
          <a:prstGeom prst="rect">
            <a:avLst/>
          </a:prstGeom>
        </p:spPr>
      </p:pic>
      <p:sp>
        <p:nvSpPr>
          <p:cNvPr id="41" name="TextBox 40">
            <a:extLst>
              <a:ext uri="{FF2B5EF4-FFF2-40B4-BE49-F238E27FC236}">
                <a16:creationId xmlns:a16="http://schemas.microsoft.com/office/drawing/2014/main" id="{E6F8B090-0C02-2450-986B-05670A480024}"/>
              </a:ext>
            </a:extLst>
          </p:cNvPr>
          <p:cNvSpPr txBox="1"/>
          <p:nvPr/>
        </p:nvSpPr>
        <p:spPr>
          <a:xfrm>
            <a:off x="11048999" y="3924300"/>
            <a:ext cx="6677025" cy="3416320"/>
          </a:xfrm>
          <a:prstGeom prst="rect">
            <a:avLst/>
          </a:prstGeom>
          <a:noFill/>
        </p:spPr>
        <p:txBody>
          <a:bodyPr wrap="square" rtlCol="0">
            <a:spAutoFit/>
          </a:bodyPr>
          <a:lstStyle/>
          <a:p>
            <a:r>
              <a:rPr lang="en-IN" sz="2400" b="1" dirty="0"/>
              <a:t>Insights:</a:t>
            </a:r>
          </a:p>
          <a:p>
            <a:endParaRPr lang="en-IN" sz="2400" dirty="0"/>
          </a:p>
          <a:p>
            <a:pPr marL="285750" indent="-285750">
              <a:buFont typeface="Arial" panose="020B0604020202020204" pitchFamily="34" charset="0"/>
              <a:buChar char="•"/>
            </a:pPr>
            <a:r>
              <a:rPr lang="en-IN" sz="2400" dirty="0"/>
              <a:t>Top selling materials like ‘Cotton’ and ‘</a:t>
            </a:r>
            <a:r>
              <a:rPr lang="en-IN" sz="2400" dirty="0" err="1"/>
              <a:t>Polyster</a:t>
            </a:r>
            <a:r>
              <a:rPr lang="en-IN" sz="2400" dirty="0"/>
              <a:t>’ are indicating high demand on these fabrics.</a:t>
            </a:r>
          </a:p>
          <a:p>
            <a:pPr marL="285750" indent="-285750">
              <a:buFont typeface="Arial" panose="020B0604020202020204" pitchFamily="34" charset="0"/>
              <a:buChar char="•"/>
            </a:pPr>
            <a:r>
              <a:rPr lang="en-IN" sz="2400" dirty="0"/>
              <a:t>This suggests customers prefer comfortable and commonly used fabrics.</a:t>
            </a:r>
          </a:p>
          <a:p>
            <a:pPr marL="285750" indent="-285750">
              <a:buFont typeface="Arial" panose="020B0604020202020204" pitchFamily="34" charset="0"/>
              <a:buChar char="•"/>
            </a:pPr>
            <a:r>
              <a:rPr lang="en-IN" sz="2400" dirty="0"/>
              <a:t>This highlights which materials should be prioritized in manufacturing and stocking.</a:t>
            </a:r>
          </a:p>
          <a:p>
            <a:pPr marL="2857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1123713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F9AD-A0BB-AB2B-7993-72364D42FC4C}"/>
            </a:ext>
          </a:extLst>
        </p:cNvPr>
        <p:cNvGrpSpPr/>
        <p:nvPr/>
      </p:nvGrpSpPr>
      <p:grpSpPr>
        <a:xfrm>
          <a:off x="0" y="0"/>
          <a:ext cx="0" cy="0"/>
          <a:chOff x="0" y="0"/>
          <a:chExt cx="0" cy="0"/>
        </a:xfrm>
      </p:grpSpPr>
      <p:sp>
        <p:nvSpPr>
          <p:cNvPr id="24" name="TextBox 24">
            <a:extLst>
              <a:ext uri="{FF2B5EF4-FFF2-40B4-BE49-F238E27FC236}">
                <a16:creationId xmlns:a16="http://schemas.microsoft.com/office/drawing/2014/main" id="{67799AE6-842D-A470-F0C5-8B26FFFA89D5}"/>
              </a:ext>
            </a:extLst>
          </p:cNvPr>
          <p:cNvSpPr txBox="1"/>
          <p:nvPr/>
        </p:nvSpPr>
        <p:spPr>
          <a:xfrm>
            <a:off x="961499" y="859664"/>
            <a:ext cx="153005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Seasonal Sales performance</a:t>
            </a:r>
          </a:p>
        </p:txBody>
      </p:sp>
      <p:sp>
        <p:nvSpPr>
          <p:cNvPr id="41" name="TextBox 40">
            <a:extLst>
              <a:ext uri="{FF2B5EF4-FFF2-40B4-BE49-F238E27FC236}">
                <a16:creationId xmlns:a16="http://schemas.microsoft.com/office/drawing/2014/main" id="{0934CB09-7D9F-3948-FDB4-E72F2E8D1776}"/>
              </a:ext>
            </a:extLst>
          </p:cNvPr>
          <p:cNvSpPr txBox="1"/>
          <p:nvPr/>
        </p:nvSpPr>
        <p:spPr>
          <a:xfrm>
            <a:off x="10744200" y="2476500"/>
            <a:ext cx="7086600" cy="6629400"/>
          </a:xfrm>
          <a:prstGeom prst="rect">
            <a:avLst/>
          </a:prstGeom>
          <a:noFill/>
        </p:spPr>
        <p:txBody>
          <a:bodyPr wrap="square" rtlCol="0">
            <a:spAutoFit/>
          </a:bodyPr>
          <a:lstStyle/>
          <a:p>
            <a:endParaRPr lang="en-IN" dirty="0"/>
          </a:p>
        </p:txBody>
      </p:sp>
      <p:grpSp>
        <p:nvGrpSpPr>
          <p:cNvPr id="2" name="Group 8">
            <a:extLst>
              <a:ext uri="{FF2B5EF4-FFF2-40B4-BE49-F238E27FC236}">
                <a16:creationId xmlns:a16="http://schemas.microsoft.com/office/drawing/2014/main" id="{B8DC2D5B-89B9-6C1A-FBA1-858D0F3DB72E}"/>
              </a:ext>
            </a:extLst>
          </p:cNvPr>
          <p:cNvGrpSpPr/>
          <p:nvPr/>
        </p:nvGrpSpPr>
        <p:grpSpPr>
          <a:xfrm>
            <a:off x="8420100" y="2628900"/>
            <a:ext cx="9334500" cy="6096000"/>
            <a:chOff x="0" y="0"/>
            <a:chExt cx="1985696" cy="1401066"/>
          </a:xfrm>
        </p:grpSpPr>
        <p:sp>
          <p:nvSpPr>
            <p:cNvPr id="3" name="Freeform 9">
              <a:extLst>
                <a:ext uri="{FF2B5EF4-FFF2-40B4-BE49-F238E27FC236}">
                  <a16:creationId xmlns:a16="http://schemas.microsoft.com/office/drawing/2014/main" id="{40559BD2-DB3C-9522-41E9-8B727086AADC}"/>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4" name="TextBox 10">
              <a:extLst>
                <a:ext uri="{FF2B5EF4-FFF2-40B4-BE49-F238E27FC236}">
                  <a16:creationId xmlns:a16="http://schemas.microsoft.com/office/drawing/2014/main" id="{6BC15809-314A-B504-CE49-24B00BA47F16}"/>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pic>
        <p:nvPicPr>
          <p:cNvPr id="5" name="Picture 4">
            <a:extLst>
              <a:ext uri="{FF2B5EF4-FFF2-40B4-BE49-F238E27FC236}">
                <a16:creationId xmlns:a16="http://schemas.microsoft.com/office/drawing/2014/main" id="{003A749A-CA01-90F8-2818-2E894E427B3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610600" y="2797642"/>
            <a:ext cx="9090049" cy="5769290"/>
          </a:xfrm>
          <a:prstGeom prst="rect">
            <a:avLst/>
          </a:prstGeom>
        </p:spPr>
      </p:pic>
      <p:sp>
        <p:nvSpPr>
          <p:cNvPr id="6" name="TextBox 5">
            <a:extLst>
              <a:ext uri="{FF2B5EF4-FFF2-40B4-BE49-F238E27FC236}">
                <a16:creationId xmlns:a16="http://schemas.microsoft.com/office/drawing/2014/main" id="{44FC869F-0D68-6529-F1BF-9EE325132724}"/>
              </a:ext>
            </a:extLst>
          </p:cNvPr>
          <p:cNvSpPr txBox="1"/>
          <p:nvPr/>
        </p:nvSpPr>
        <p:spPr>
          <a:xfrm>
            <a:off x="762000" y="3619500"/>
            <a:ext cx="7472364" cy="5262979"/>
          </a:xfrm>
          <a:prstGeom prst="rect">
            <a:avLst/>
          </a:prstGeom>
          <a:noFill/>
        </p:spPr>
        <p:txBody>
          <a:bodyPr wrap="square" rtlCol="0">
            <a:spAutoFit/>
          </a:bodyPr>
          <a:lstStyle/>
          <a:p>
            <a:r>
              <a:rPr lang="en-US" sz="2400" b="1" dirty="0">
                <a:latin typeface="+mj-lt"/>
              </a:rPr>
              <a:t>Insights:</a:t>
            </a:r>
            <a:endParaRPr lang="en-US" sz="2400" dirty="0">
              <a:latin typeface="+mj-lt"/>
            </a:endParaRPr>
          </a:p>
          <a:p>
            <a:pPr lvl="0" eaLnBrk="0" fontAlgn="base" hangingPunct="0">
              <a:spcBef>
                <a:spcPct val="0"/>
              </a:spcBef>
              <a:spcAft>
                <a:spcPct val="0"/>
              </a:spcAft>
            </a:pPr>
            <a:endParaRPr lang="en-US" altLang="en-US" sz="2400" dirty="0">
              <a:latin typeface="+mj-lt"/>
            </a:endParaRPr>
          </a:p>
          <a:p>
            <a:pPr marL="342900" lvl="0" indent="-342900" eaLnBrk="0" fontAlgn="base" hangingPunct="0">
              <a:spcBef>
                <a:spcPct val="0"/>
              </a:spcBef>
              <a:spcAft>
                <a:spcPct val="0"/>
              </a:spcAft>
              <a:buFont typeface="Arial" panose="020B0604020202020204" pitchFamily="34" charset="0"/>
              <a:buChar char="•"/>
            </a:pPr>
            <a:r>
              <a:rPr lang="en-IN" sz="2400" dirty="0"/>
              <a:t>It shows a clear Seasonal Peaks and Troughs</a:t>
            </a:r>
          </a:p>
          <a:p>
            <a:pPr marL="342900" lvl="0" indent="-342900" eaLnBrk="0" fontAlgn="base" hangingPunct="0">
              <a:spcBef>
                <a:spcPct val="0"/>
              </a:spcBef>
              <a:spcAft>
                <a:spcPct val="0"/>
              </a:spcAft>
              <a:buFont typeface="Arial" panose="020B0604020202020204" pitchFamily="34" charset="0"/>
              <a:buChar char="•"/>
            </a:pPr>
            <a:r>
              <a:rPr lang="en-IN" sz="2400" dirty="0"/>
              <a:t>'Summer' showing significantly higher total sales compared to other seasons. This identifies Summer as the peak sales period for the business.</a:t>
            </a:r>
            <a:endParaRPr lang="en-IN" sz="2400" b="1" dirty="0">
              <a:latin typeface="+mj-lt"/>
            </a:endParaRPr>
          </a:p>
          <a:p>
            <a:pPr marL="342900" lvl="0" indent="-342900" eaLnBrk="0" fontAlgn="base" hangingPunct="0">
              <a:spcBef>
                <a:spcPct val="0"/>
              </a:spcBef>
              <a:spcAft>
                <a:spcPct val="0"/>
              </a:spcAft>
              <a:buFont typeface="Arial" panose="020B0604020202020204" pitchFamily="34" charset="0"/>
              <a:buChar char="•"/>
            </a:pPr>
            <a:r>
              <a:rPr lang="en-IN" sz="2400" b="1" dirty="0"/>
              <a:t>'Autumn Sales Cliff’:</a:t>
            </a:r>
            <a:r>
              <a:rPr lang="en-IN" sz="2400" dirty="0"/>
              <a:t> There's a noticeable drop in sales volume from Summer to Autumn.</a:t>
            </a:r>
          </a:p>
          <a:p>
            <a:pPr marL="342900" indent="-342900" eaLnBrk="0" fontAlgn="base" hangingPunct="0">
              <a:spcBef>
                <a:spcPct val="0"/>
              </a:spcBef>
              <a:spcAft>
                <a:spcPct val="0"/>
              </a:spcAft>
              <a:buFont typeface="Arial" panose="020B0604020202020204" pitchFamily="34" charset="0"/>
              <a:buChar char="•"/>
            </a:pPr>
            <a:r>
              <a:rPr lang="en-IN" sz="2400" dirty="0"/>
              <a:t>There is a Winter Bounce that sales pick up slightly in </a:t>
            </a:r>
            <a:r>
              <a:rPr lang="en-IN" sz="2400" b="1" dirty="0"/>
              <a:t>Winter</a:t>
            </a:r>
            <a:r>
              <a:rPr lang="en-IN" sz="2400" dirty="0"/>
              <a:t>, likely due to holiday shopping or end-of-year clearances.</a:t>
            </a:r>
          </a:p>
          <a:p>
            <a:pPr marL="342900" lvl="0" indent="-342900" eaLnBrk="0" fontAlgn="base" hangingPunct="0">
              <a:spcBef>
                <a:spcPct val="0"/>
              </a:spcBef>
              <a:spcAft>
                <a:spcPct val="0"/>
              </a:spcAft>
              <a:buFont typeface="Arial" panose="020B0604020202020204" pitchFamily="34" charset="0"/>
              <a:buChar char="•"/>
            </a:pPr>
            <a:r>
              <a:rPr lang="en-US" sz="2400" dirty="0"/>
              <a:t>Fashion sales are strongly influenced by seasonal trends.</a:t>
            </a:r>
          </a:p>
          <a:p>
            <a:pPr lvl="0" eaLnBrk="0" fontAlgn="base" hangingPunct="0">
              <a:spcBef>
                <a:spcPct val="0"/>
              </a:spcBef>
              <a:spcAft>
                <a:spcPct val="0"/>
              </a:spcAft>
            </a:pPr>
            <a:endParaRPr lang="en-IN" sz="2400" dirty="0"/>
          </a:p>
        </p:txBody>
      </p:sp>
    </p:spTree>
    <p:extLst>
      <p:ext uri="{BB962C8B-B14F-4D97-AF65-F5344CB8AC3E}">
        <p14:creationId xmlns:p14="http://schemas.microsoft.com/office/powerpoint/2010/main" val="3637222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A2599-D83D-EA03-AB98-C98A8A5DD12A}"/>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4F2DC597-2801-918C-6565-FD84D63C50E0}"/>
              </a:ext>
            </a:extLst>
          </p:cNvPr>
          <p:cNvSpPr/>
          <p:nvPr/>
        </p:nvSpPr>
        <p:spPr>
          <a:xfrm rot="-10800000">
            <a:off x="15255219" y="8309078"/>
            <a:ext cx="2004081" cy="2643272"/>
          </a:xfrm>
          <a:custGeom>
            <a:avLst/>
            <a:gdLst/>
            <a:ahLst/>
            <a:cxnLst/>
            <a:rect l="l" t="t" r="r" b="b"/>
            <a:pathLst>
              <a:path w="2004081" h="2643272">
                <a:moveTo>
                  <a:pt x="0" y="0"/>
                </a:moveTo>
                <a:lnTo>
                  <a:pt x="2004081" y="0"/>
                </a:lnTo>
                <a:lnTo>
                  <a:pt x="2004081" y="2643272"/>
                </a:lnTo>
                <a:lnTo>
                  <a:pt x="0" y="26432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8" name="Group 8">
            <a:extLst>
              <a:ext uri="{FF2B5EF4-FFF2-40B4-BE49-F238E27FC236}">
                <a16:creationId xmlns:a16="http://schemas.microsoft.com/office/drawing/2014/main" id="{32C38D76-8078-CCA3-FFE8-A3473A20C2C1}"/>
              </a:ext>
            </a:extLst>
          </p:cNvPr>
          <p:cNvGrpSpPr/>
          <p:nvPr/>
        </p:nvGrpSpPr>
        <p:grpSpPr>
          <a:xfrm>
            <a:off x="561975" y="3390900"/>
            <a:ext cx="10134600" cy="5791200"/>
            <a:chOff x="0" y="0"/>
            <a:chExt cx="1985696" cy="1401066"/>
          </a:xfrm>
        </p:grpSpPr>
        <p:sp>
          <p:nvSpPr>
            <p:cNvPr id="9" name="Freeform 9">
              <a:extLst>
                <a:ext uri="{FF2B5EF4-FFF2-40B4-BE49-F238E27FC236}">
                  <a16:creationId xmlns:a16="http://schemas.microsoft.com/office/drawing/2014/main" id="{9F74D4F4-7CE3-2F77-48D4-B5803B22F6C2}"/>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10" name="TextBox 10">
              <a:extLst>
                <a:ext uri="{FF2B5EF4-FFF2-40B4-BE49-F238E27FC236}">
                  <a16:creationId xmlns:a16="http://schemas.microsoft.com/office/drawing/2014/main" id="{8D1DEBB0-A2BC-59CC-0C30-E17EB7DCE87F}"/>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sp>
        <p:nvSpPr>
          <p:cNvPr id="24" name="TextBox 24">
            <a:extLst>
              <a:ext uri="{FF2B5EF4-FFF2-40B4-BE49-F238E27FC236}">
                <a16:creationId xmlns:a16="http://schemas.microsoft.com/office/drawing/2014/main" id="{685707F4-BBB6-8174-43E7-956BB65DC3F1}"/>
              </a:ext>
            </a:extLst>
          </p:cNvPr>
          <p:cNvSpPr txBox="1"/>
          <p:nvPr/>
        </p:nvSpPr>
        <p:spPr>
          <a:xfrm>
            <a:off x="1234878" y="923866"/>
            <a:ext cx="134717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Season Sales: Impact of Recommendation</a:t>
            </a:r>
          </a:p>
        </p:txBody>
      </p:sp>
      <p:pic>
        <p:nvPicPr>
          <p:cNvPr id="39" name="Picture 38">
            <a:extLst>
              <a:ext uri="{FF2B5EF4-FFF2-40B4-BE49-F238E27FC236}">
                <a16:creationId xmlns:a16="http://schemas.microsoft.com/office/drawing/2014/main" id="{4704A718-D9EC-FDDA-6EDD-19677696107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27176" y="3641451"/>
            <a:ext cx="10004197" cy="5154543"/>
          </a:xfrm>
          <a:prstGeom prst="rect">
            <a:avLst/>
          </a:prstGeom>
        </p:spPr>
      </p:pic>
      <p:sp>
        <p:nvSpPr>
          <p:cNvPr id="41" name="TextBox 40">
            <a:extLst>
              <a:ext uri="{FF2B5EF4-FFF2-40B4-BE49-F238E27FC236}">
                <a16:creationId xmlns:a16="http://schemas.microsoft.com/office/drawing/2014/main" id="{404C10E3-FC51-F9C0-8ADC-8D44CA9FF1CC}"/>
              </a:ext>
            </a:extLst>
          </p:cNvPr>
          <p:cNvSpPr txBox="1"/>
          <p:nvPr/>
        </p:nvSpPr>
        <p:spPr>
          <a:xfrm>
            <a:off x="11048999" y="3924300"/>
            <a:ext cx="6677025" cy="4154984"/>
          </a:xfrm>
          <a:prstGeom prst="rect">
            <a:avLst/>
          </a:prstGeom>
          <a:noFill/>
        </p:spPr>
        <p:txBody>
          <a:bodyPr wrap="square" rtlCol="0">
            <a:spAutoFit/>
          </a:bodyPr>
          <a:lstStyle/>
          <a:p>
            <a:r>
              <a:rPr lang="en-IN" sz="2400" b="1" dirty="0"/>
              <a:t>Insights:</a:t>
            </a:r>
          </a:p>
          <a:p>
            <a:endParaRPr lang="en-IN" sz="2400" dirty="0"/>
          </a:p>
          <a:p>
            <a:pPr marL="342900" indent="-342900">
              <a:buFont typeface="Arial" panose="020B0604020202020204" pitchFamily="34" charset="0"/>
              <a:buChar char="•"/>
            </a:pPr>
            <a:r>
              <a:rPr lang="en-US" sz="2400" dirty="0"/>
              <a:t>Recommended products perform best during Spring, generating the highest seasonal sales.</a:t>
            </a:r>
          </a:p>
          <a:p>
            <a:pPr marL="342900" indent="-342900">
              <a:buFont typeface="Arial" panose="020B0604020202020204" pitchFamily="34" charset="0"/>
              <a:buChar char="•"/>
            </a:pPr>
            <a:r>
              <a:rPr lang="en-US" sz="2400" dirty="0"/>
              <a:t>The influence of recommendations varies across seasons, showing weaker impact in Summer, Autumn, and Winter.</a:t>
            </a:r>
          </a:p>
          <a:p>
            <a:pPr marL="342900" indent="-342900">
              <a:buFont typeface="Arial" panose="020B0604020202020204" pitchFamily="34" charset="0"/>
              <a:buChar char="•"/>
            </a:pPr>
            <a:r>
              <a:rPr lang="en-US" sz="2400" dirty="0"/>
              <a:t>Improving recommendation strategies during low-performing seasons could help increase overall sales.</a:t>
            </a:r>
          </a:p>
          <a:p>
            <a:pPr marL="2857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1417869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C8625-1DEE-56F9-C4D5-9B5059B0CE7B}"/>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2411149B-0944-4F79-EA18-FECD3865ABB3}"/>
              </a:ext>
            </a:extLst>
          </p:cNvPr>
          <p:cNvSpPr/>
          <p:nvPr/>
        </p:nvSpPr>
        <p:spPr>
          <a:xfrm rot="-10800000">
            <a:off x="15255219" y="8309078"/>
            <a:ext cx="2004081" cy="2643272"/>
          </a:xfrm>
          <a:custGeom>
            <a:avLst/>
            <a:gdLst/>
            <a:ahLst/>
            <a:cxnLst/>
            <a:rect l="l" t="t" r="r" b="b"/>
            <a:pathLst>
              <a:path w="2004081" h="2643272">
                <a:moveTo>
                  <a:pt x="0" y="0"/>
                </a:moveTo>
                <a:lnTo>
                  <a:pt x="2004081" y="0"/>
                </a:lnTo>
                <a:lnTo>
                  <a:pt x="2004081" y="2643272"/>
                </a:lnTo>
                <a:lnTo>
                  <a:pt x="0" y="264327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8" name="Group 8">
            <a:extLst>
              <a:ext uri="{FF2B5EF4-FFF2-40B4-BE49-F238E27FC236}">
                <a16:creationId xmlns:a16="http://schemas.microsoft.com/office/drawing/2014/main" id="{F3C079FF-9330-FA28-6655-6FD2FF3E3233}"/>
              </a:ext>
            </a:extLst>
          </p:cNvPr>
          <p:cNvGrpSpPr/>
          <p:nvPr/>
        </p:nvGrpSpPr>
        <p:grpSpPr>
          <a:xfrm>
            <a:off x="1019175" y="2523023"/>
            <a:ext cx="7591425" cy="6278077"/>
            <a:chOff x="0" y="0"/>
            <a:chExt cx="1985696" cy="1401066"/>
          </a:xfrm>
        </p:grpSpPr>
        <p:sp>
          <p:nvSpPr>
            <p:cNvPr id="9" name="Freeform 9">
              <a:extLst>
                <a:ext uri="{FF2B5EF4-FFF2-40B4-BE49-F238E27FC236}">
                  <a16:creationId xmlns:a16="http://schemas.microsoft.com/office/drawing/2014/main" id="{F10C21A5-F280-AE6A-4E29-D33C9AAFC74B}"/>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10" name="TextBox 10">
              <a:extLst>
                <a:ext uri="{FF2B5EF4-FFF2-40B4-BE49-F238E27FC236}">
                  <a16:creationId xmlns:a16="http://schemas.microsoft.com/office/drawing/2014/main" id="{3E036AA6-A5AA-AE88-23B5-CA19215D4B6B}"/>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sp>
        <p:nvSpPr>
          <p:cNvPr id="24" name="TextBox 24">
            <a:extLst>
              <a:ext uri="{FF2B5EF4-FFF2-40B4-BE49-F238E27FC236}">
                <a16:creationId xmlns:a16="http://schemas.microsoft.com/office/drawing/2014/main" id="{B81FB4CA-2DCA-F4A8-FAD9-074F531B171A}"/>
              </a:ext>
            </a:extLst>
          </p:cNvPr>
          <p:cNvSpPr txBox="1"/>
          <p:nvPr/>
        </p:nvSpPr>
        <p:spPr>
          <a:xfrm>
            <a:off x="1234878" y="923866"/>
            <a:ext cx="134717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Correlation Analysis of Product Attributes</a:t>
            </a:r>
          </a:p>
        </p:txBody>
      </p:sp>
      <p:pic>
        <p:nvPicPr>
          <p:cNvPr id="39" name="Picture 38">
            <a:extLst>
              <a:ext uri="{FF2B5EF4-FFF2-40B4-BE49-F238E27FC236}">
                <a16:creationId xmlns:a16="http://schemas.microsoft.com/office/drawing/2014/main" id="{8CB9423D-3619-7D74-92A4-DC7A4EB8958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19200" y="2775004"/>
            <a:ext cx="7239000" cy="5645096"/>
          </a:xfrm>
          <a:prstGeom prst="rect">
            <a:avLst/>
          </a:prstGeom>
        </p:spPr>
      </p:pic>
      <p:sp>
        <p:nvSpPr>
          <p:cNvPr id="41" name="TextBox 40">
            <a:extLst>
              <a:ext uri="{FF2B5EF4-FFF2-40B4-BE49-F238E27FC236}">
                <a16:creationId xmlns:a16="http://schemas.microsoft.com/office/drawing/2014/main" id="{23521BE5-CCAB-73AB-A9BE-0FE1674EE27E}"/>
              </a:ext>
            </a:extLst>
          </p:cNvPr>
          <p:cNvSpPr txBox="1"/>
          <p:nvPr/>
        </p:nvSpPr>
        <p:spPr>
          <a:xfrm>
            <a:off x="8915400" y="3566015"/>
            <a:ext cx="8153400" cy="3785652"/>
          </a:xfrm>
          <a:prstGeom prst="rect">
            <a:avLst/>
          </a:prstGeom>
          <a:noFill/>
        </p:spPr>
        <p:txBody>
          <a:bodyPr wrap="square" rtlCol="0">
            <a:spAutoFit/>
          </a:bodyPr>
          <a:lstStyle/>
          <a:p>
            <a:r>
              <a:rPr lang="en-IN" sz="2400" b="1" dirty="0"/>
              <a:t>Insights:</a:t>
            </a:r>
          </a:p>
          <a:p>
            <a:endParaRPr lang="en-IN" sz="2400" dirty="0"/>
          </a:p>
          <a:p>
            <a:pPr marL="285750" indent="-285750">
              <a:buFont typeface="Arial" panose="020B0604020202020204" pitchFamily="34" charset="0"/>
              <a:buChar char="•"/>
            </a:pPr>
            <a:r>
              <a:rPr lang="en-IN" sz="2400" dirty="0"/>
              <a:t>Rating vs Total Sales - Suggests that while higher ratings might contribute to slightly higher sales</a:t>
            </a:r>
          </a:p>
          <a:p>
            <a:pPr marL="285750" indent="-285750">
              <a:buFont typeface="Arial" panose="020B0604020202020204" pitchFamily="34" charset="0"/>
              <a:buChar char="•"/>
            </a:pPr>
            <a:r>
              <a:rPr lang="en-IN" sz="2400" dirty="0"/>
              <a:t>Recommendation vs Total Sales - The correlation is weaker</a:t>
            </a:r>
          </a:p>
          <a:p>
            <a:pPr marL="285750" indent="-285750">
              <a:buFont typeface="Arial" panose="020B0604020202020204" pitchFamily="34" charset="0"/>
              <a:buChar char="•"/>
            </a:pPr>
            <a:r>
              <a:rPr lang="en-IN" sz="2400" dirty="0"/>
              <a:t>Recommendation vs Rating - Weak +</a:t>
            </a:r>
            <a:r>
              <a:rPr lang="en-IN" sz="2400" dirty="0" err="1"/>
              <a:t>ve</a:t>
            </a:r>
            <a:r>
              <a:rPr lang="en-IN" sz="2400" dirty="0"/>
              <a:t> correlation, items with higher ratings are only marginally more likely to be recommended. </a:t>
            </a:r>
          </a:p>
          <a:p>
            <a:pPr marL="285750" indent="-285750">
              <a:buFont typeface="Arial" panose="020B0604020202020204" pitchFamily="34" charset="0"/>
              <a:buChar char="•"/>
            </a:pPr>
            <a:r>
              <a:rPr lang="en-US" sz="2400" dirty="0"/>
              <a:t>Customer satisfaction and marketing influence product performance</a:t>
            </a:r>
            <a:endParaRPr lang="en-IN" sz="2400" dirty="0"/>
          </a:p>
        </p:txBody>
      </p:sp>
    </p:spTree>
    <p:extLst>
      <p:ext uri="{BB962C8B-B14F-4D97-AF65-F5344CB8AC3E}">
        <p14:creationId xmlns:p14="http://schemas.microsoft.com/office/powerpoint/2010/main" val="710522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2DD7-5508-98B8-49E1-F0C1FFC7C868}"/>
            </a:ext>
          </a:extLst>
        </p:cNvPr>
        <p:cNvGrpSpPr/>
        <p:nvPr/>
      </p:nvGrpSpPr>
      <p:grpSpPr>
        <a:xfrm>
          <a:off x="0" y="0"/>
          <a:ext cx="0" cy="0"/>
          <a:chOff x="0" y="0"/>
          <a:chExt cx="0" cy="0"/>
        </a:xfrm>
      </p:grpSpPr>
      <p:sp>
        <p:nvSpPr>
          <p:cNvPr id="24" name="TextBox 24">
            <a:extLst>
              <a:ext uri="{FF2B5EF4-FFF2-40B4-BE49-F238E27FC236}">
                <a16:creationId xmlns:a16="http://schemas.microsoft.com/office/drawing/2014/main" id="{748DEF96-9972-57CB-4E48-FD749A6DC7A6}"/>
              </a:ext>
            </a:extLst>
          </p:cNvPr>
          <p:cNvSpPr txBox="1"/>
          <p:nvPr/>
        </p:nvSpPr>
        <p:spPr>
          <a:xfrm>
            <a:off x="961499" y="859664"/>
            <a:ext cx="153005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Style vs. Rating</a:t>
            </a:r>
          </a:p>
        </p:txBody>
      </p:sp>
      <p:sp>
        <p:nvSpPr>
          <p:cNvPr id="41" name="TextBox 40">
            <a:extLst>
              <a:ext uri="{FF2B5EF4-FFF2-40B4-BE49-F238E27FC236}">
                <a16:creationId xmlns:a16="http://schemas.microsoft.com/office/drawing/2014/main" id="{2897D676-87B8-047C-2453-3994B8D4C428}"/>
              </a:ext>
            </a:extLst>
          </p:cNvPr>
          <p:cNvSpPr txBox="1"/>
          <p:nvPr/>
        </p:nvSpPr>
        <p:spPr>
          <a:xfrm>
            <a:off x="10744200" y="2476500"/>
            <a:ext cx="7086600" cy="6629400"/>
          </a:xfrm>
          <a:prstGeom prst="rect">
            <a:avLst/>
          </a:prstGeom>
          <a:noFill/>
        </p:spPr>
        <p:txBody>
          <a:bodyPr wrap="square" rtlCol="0">
            <a:spAutoFit/>
          </a:bodyPr>
          <a:lstStyle/>
          <a:p>
            <a:endParaRPr lang="en-IN" dirty="0"/>
          </a:p>
        </p:txBody>
      </p:sp>
      <p:grpSp>
        <p:nvGrpSpPr>
          <p:cNvPr id="2" name="Group 8">
            <a:extLst>
              <a:ext uri="{FF2B5EF4-FFF2-40B4-BE49-F238E27FC236}">
                <a16:creationId xmlns:a16="http://schemas.microsoft.com/office/drawing/2014/main" id="{EC5AF045-6064-4912-EA4F-88231FBEE024}"/>
              </a:ext>
            </a:extLst>
          </p:cNvPr>
          <p:cNvGrpSpPr/>
          <p:nvPr/>
        </p:nvGrpSpPr>
        <p:grpSpPr>
          <a:xfrm>
            <a:off x="8763000" y="2628899"/>
            <a:ext cx="8839200" cy="6253579"/>
            <a:chOff x="0" y="0"/>
            <a:chExt cx="1985696" cy="1401066"/>
          </a:xfrm>
        </p:grpSpPr>
        <p:sp>
          <p:nvSpPr>
            <p:cNvPr id="3" name="Freeform 9">
              <a:extLst>
                <a:ext uri="{FF2B5EF4-FFF2-40B4-BE49-F238E27FC236}">
                  <a16:creationId xmlns:a16="http://schemas.microsoft.com/office/drawing/2014/main" id="{636A9512-2B3B-F239-4CB2-D791F7DA689B}"/>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4" name="TextBox 10">
              <a:extLst>
                <a:ext uri="{FF2B5EF4-FFF2-40B4-BE49-F238E27FC236}">
                  <a16:creationId xmlns:a16="http://schemas.microsoft.com/office/drawing/2014/main" id="{B35E1285-DE77-3DAD-C298-18A23A14CBA4}"/>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sp>
        <p:nvSpPr>
          <p:cNvPr id="6" name="TextBox 5">
            <a:extLst>
              <a:ext uri="{FF2B5EF4-FFF2-40B4-BE49-F238E27FC236}">
                <a16:creationId xmlns:a16="http://schemas.microsoft.com/office/drawing/2014/main" id="{41DB4DE6-EB1C-CA82-FF94-5F82F8CE500D}"/>
              </a:ext>
            </a:extLst>
          </p:cNvPr>
          <p:cNvSpPr txBox="1"/>
          <p:nvPr/>
        </p:nvSpPr>
        <p:spPr>
          <a:xfrm>
            <a:off x="762000" y="3619500"/>
            <a:ext cx="7472364" cy="4893647"/>
          </a:xfrm>
          <a:prstGeom prst="rect">
            <a:avLst/>
          </a:prstGeom>
          <a:noFill/>
        </p:spPr>
        <p:txBody>
          <a:bodyPr wrap="square" rtlCol="0">
            <a:spAutoFit/>
          </a:bodyPr>
          <a:lstStyle/>
          <a:p>
            <a:r>
              <a:rPr lang="en-US" sz="2400" b="1" dirty="0">
                <a:latin typeface="+mj-lt"/>
              </a:rPr>
              <a:t>Insights:</a:t>
            </a:r>
          </a:p>
          <a:p>
            <a:pPr lvl="0" eaLnBrk="0" fontAlgn="base" hangingPunct="0">
              <a:spcBef>
                <a:spcPct val="0"/>
              </a:spcBef>
              <a:spcAft>
                <a:spcPct val="0"/>
              </a:spcAft>
            </a:pPr>
            <a:endParaRPr lang="en-US" altLang="en-US" sz="2400" dirty="0">
              <a:latin typeface="+mj-lt"/>
            </a:endParaRPr>
          </a:p>
          <a:p>
            <a:pPr marL="342900" lvl="0" indent="-342900" eaLnBrk="0" fontAlgn="base" hangingPunct="0">
              <a:spcBef>
                <a:spcPct val="0"/>
              </a:spcBef>
              <a:spcAft>
                <a:spcPct val="0"/>
              </a:spcAft>
              <a:buFont typeface="Arial" panose="020B0604020202020204" pitchFamily="34" charset="0"/>
              <a:buChar char="•"/>
            </a:pPr>
            <a:r>
              <a:rPr lang="en-US" sz="2400" dirty="0"/>
              <a:t>Certain styles like 'Casual’ and ‘Sexy’ have a very tight rating distribution, meaning they are reliable for customers.</a:t>
            </a:r>
            <a:endParaRPr lang="en-US" altLang="en-US" sz="2400" dirty="0">
              <a:latin typeface="+mj-lt"/>
            </a:endParaRPr>
          </a:p>
          <a:p>
            <a:pPr marL="342900" indent="-342900">
              <a:buFont typeface="Arial" panose="020B0604020202020204" pitchFamily="34" charset="0"/>
              <a:buChar char="•"/>
            </a:pPr>
            <a:r>
              <a:rPr lang="en-US" sz="2400" dirty="0"/>
              <a:t>‘Novelty’ styles have highly volatile ratings. This suggests higher Return Rate Risks for these categories.</a:t>
            </a:r>
          </a:p>
          <a:p>
            <a:pPr marL="342900" indent="-342900">
              <a:buFont typeface="Arial" panose="020B0604020202020204" pitchFamily="34" charset="0"/>
              <a:buChar char="•"/>
            </a:pPr>
            <a:r>
              <a:rPr lang="en-US" sz="2400" dirty="0"/>
              <a:t>Styles with wider "violins" show inconsistent quality, leading to unpredictable customer satisfaction.</a:t>
            </a:r>
          </a:p>
          <a:p>
            <a:pPr marL="342900" indent="-342900">
              <a:buFont typeface="Arial" panose="020B0604020202020204" pitchFamily="34" charset="0"/>
              <a:buChar char="•"/>
            </a:pPr>
            <a:r>
              <a:rPr lang="en-IN" sz="2400" dirty="0"/>
              <a:t>High volatility suggests that the product doesn't fit every body type equally, leading to more returns.</a:t>
            </a:r>
          </a:p>
          <a:p>
            <a:pPr marL="342900" indent="-342900">
              <a:buFont typeface="Arial" panose="020B0604020202020204" pitchFamily="34" charset="0"/>
              <a:buChar char="•"/>
            </a:pPr>
            <a:endParaRPr lang="en-IN" sz="2400" dirty="0"/>
          </a:p>
          <a:p>
            <a:pPr lvl="0" eaLnBrk="0" fontAlgn="base" hangingPunct="0">
              <a:spcBef>
                <a:spcPct val="0"/>
              </a:spcBef>
              <a:spcAft>
                <a:spcPct val="0"/>
              </a:spcAft>
            </a:pPr>
            <a:endParaRPr lang="en-IN" sz="2400" dirty="0"/>
          </a:p>
        </p:txBody>
      </p:sp>
      <p:pic>
        <p:nvPicPr>
          <p:cNvPr id="8" name="Picture 7">
            <a:extLst>
              <a:ext uri="{FF2B5EF4-FFF2-40B4-BE49-F238E27FC236}">
                <a16:creationId xmlns:a16="http://schemas.microsoft.com/office/drawing/2014/main" id="{8441D786-4C84-D302-EB6E-E25A8BD2B6C0}"/>
              </a:ext>
            </a:extLst>
          </p:cNvPr>
          <p:cNvPicPr>
            <a:picLocks noChangeAspect="1"/>
          </p:cNvPicPr>
          <p:nvPr/>
        </p:nvPicPr>
        <p:blipFill>
          <a:blip r:embed="rId3"/>
          <a:stretch>
            <a:fillRect/>
          </a:stretch>
        </p:blipFill>
        <p:spPr>
          <a:xfrm>
            <a:off x="8907034" y="2779148"/>
            <a:ext cx="8466565" cy="5839010"/>
          </a:xfrm>
          <a:prstGeom prst="rect">
            <a:avLst/>
          </a:prstGeom>
        </p:spPr>
      </p:pic>
    </p:spTree>
    <p:extLst>
      <p:ext uri="{BB962C8B-B14F-4D97-AF65-F5344CB8AC3E}">
        <p14:creationId xmlns:p14="http://schemas.microsoft.com/office/powerpoint/2010/main" val="2460147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CF78-AF6A-9C40-25F3-721B99C3D61E}"/>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5D084CF1-FAC4-AF6F-9972-F23D7EA8DF56}"/>
              </a:ext>
            </a:extLst>
          </p:cNvPr>
          <p:cNvSpPr/>
          <p:nvPr/>
        </p:nvSpPr>
        <p:spPr>
          <a:xfrm rot="-10800000">
            <a:off x="15255219" y="8309078"/>
            <a:ext cx="2004081" cy="2643272"/>
          </a:xfrm>
          <a:custGeom>
            <a:avLst/>
            <a:gdLst/>
            <a:ahLst/>
            <a:cxnLst/>
            <a:rect l="l" t="t" r="r" b="b"/>
            <a:pathLst>
              <a:path w="2004081" h="2643272">
                <a:moveTo>
                  <a:pt x="0" y="0"/>
                </a:moveTo>
                <a:lnTo>
                  <a:pt x="2004081" y="0"/>
                </a:lnTo>
                <a:lnTo>
                  <a:pt x="2004081" y="2643272"/>
                </a:lnTo>
                <a:lnTo>
                  <a:pt x="0" y="26432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8" name="Group 8">
            <a:extLst>
              <a:ext uri="{FF2B5EF4-FFF2-40B4-BE49-F238E27FC236}">
                <a16:creationId xmlns:a16="http://schemas.microsoft.com/office/drawing/2014/main" id="{ABD2E43B-6BA0-7D1C-5B99-BCB2129EDD84}"/>
              </a:ext>
            </a:extLst>
          </p:cNvPr>
          <p:cNvGrpSpPr/>
          <p:nvPr/>
        </p:nvGrpSpPr>
        <p:grpSpPr>
          <a:xfrm>
            <a:off x="733426" y="2705100"/>
            <a:ext cx="9705974" cy="6932091"/>
            <a:chOff x="0" y="0"/>
            <a:chExt cx="1985696" cy="1401066"/>
          </a:xfrm>
        </p:grpSpPr>
        <p:sp>
          <p:nvSpPr>
            <p:cNvPr id="9" name="Freeform 9">
              <a:extLst>
                <a:ext uri="{FF2B5EF4-FFF2-40B4-BE49-F238E27FC236}">
                  <a16:creationId xmlns:a16="http://schemas.microsoft.com/office/drawing/2014/main" id="{286E1BA7-2007-9B7B-DABB-44CC58DE7949}"/>
                </a:ext>
              </a:extLst>
            </p:cNvPr>
            <p:cNvSpPr/>
            <p:nvPr/>
          </p:nvSpPr>
          <p:spPr>
            <a:xfrm>
              <a:off x="0" y="0"/>
              <a:ext cx="1985696" cy="1401066"/>
            </a:xfrm>
            <a:custGeom>
              <a:avLst/>
              <a:gdLst/>
              <a:ahLst/>
              <a:cxnLst/>
              <a:rect l="l" t="t" r="r" b="b"/>
              <a:pathLst>
                <a:path w="1985696" h="1401066">
                  <a:moveTo>
                    <a:pt x="52370" y="0"/>
                  </a:moveTo>
                  <a:lnTo>
                    <a:pt x="1933326" y="0"/>
                  </a:lnTo>
                  <a:cubicBezTo>
                    <a:pt x="1947215" y="0"/>
                    <a:pt x="1960536" y="5518"/>
                    <a:pt x="1970357" y="15339"/>
                  </a:cubicBezTo>
                  <a:cubicBezTo>
                    <a:pt x="1980178" y="25160"/>
                    <a:pt x="1985696" y="38480"/>
                    <a:pt x="1985696" y="52370"/>
                  </a:cubicBezTo>
                  <a:lnTo>
                    <a:pt x="1985696" y="1348696"/>
                  </a:lnTo>
                  <a:cubicBezTo>
                    <a:pt x="1985696" y="1377619"/>
                    <a:pt x="1962249" y="1401066"/>
                    <a:pt x="1933326" y="1401066"/>
                  </a:cubicBezTo>
                  <a:lnTo>
                    <a:pt x="52370" y="1401066"/>
                  </a:lnTo>
                  <a:cubicBezTo>
                    <a:pt x="23447" y="1401066"/>
                    <a:pt x="0" y="1377619"/>
                    <a:pt x="0" y="1348696"/>
                  </a:cubicBezTo>
                  <a:lnTo>
                    <a:pt x="0" y="52370"/>
                  </a:lnTo>
                  <a:cubicBezTo>
                    <a:pt x="0" y="23447"/>
                    <a:pt x="23447" y="0"/>
                    <a:pt x="52370" y="0"/>
                  </a:cubicBezTo>
                  <a:close/>
                </a:path>
              </a:pathLst>
            </a:custGeom>
            <a:solidFill>
              <a:srgbClr val="FFFFFF"/>
            </a:solidFill>
            <a:ln w="38100" cap="rnd">
              <a:solidFill>
                <a:srgbClr val="000000"/>
              </a:solidFill>
              <a:prstDash val="solid"/>
              <a:round/>
            </a:ln>
          </p:spPr>
          <p:txBody>
            <a:bodyPr/>
            <a:lstStyle/>
            <a:p>
              <a:endParaRPr lang="en-IN"/>
            </a:p>
          </p:txBody>
        </p:sp>
        <p:sp>
          <p:nvSpPr>
            <p:cNvPr id="10" name="TextBox 10">
              <a:extLst>
                <a:ext uri="{FF2B5EF4-FFF2-40B4-BE49-F238E27FC236}">
                  <a16:creationId xmlns:a16="http://schemas.microsoft.com/office/drawing/2014/main" id="{3FCA56F1-755E-39B6-DCAD-E49A26B1A8B0}"/>
                </a:ext>
              </a:extLst>
            </p:cNvPr>
            <p:cNvSpPr txBox="1"/>
            <p:nvPr/>
          </p:nvSpPr>
          <p:spPr>
            <a:xfrm>
              <a:off x="0" y="-47625"/>
              <a:ext cx="1985696" cy="1448691"/>
            </a:xfrm>
            <a:prstGeom prst="rect">
              <a:avLst/>
            </a:prstGeom>
          </p:spPr>
          <p:txBody>
            <a:bodyPr lIns="50800" tIns="50800" rIns="50800" bIns="50800" rtlCol="0" anchor="ctr"/>
            <a:lstStyle/>
            <a:p>
              <a:pPr algn="ctr">
                <a:lnSpc>
                  <a:spcPts val="3360"/>
                </a:lnSpc>
              </a:pPr>
              <a:endParaRPr/>
            </a:p>
          </p:txBody>
        </p:sp>
      </p:grpSp>
      <p:sp>
        <p:nvSpPr>
          <p:cNvPr id="24" name="TextBox 24">
            <a:extLst>
              <a:ext uri="{FF2B5EF4-FFF2-40B4-BE49-F238E27FC236}">
                <a16:creationId xmlns:a16="http://schemas.microsoft.com/office/drawing/2014/main" id="{24A8DB00-2AFA-14B9-0EA2-E93EDAD5A52D}"/>
              </a:ext>
            </a:extLst>
          </p:cNvPr>
          <p:cNvSpPr txBox="1"/>
          <p:nvPr/>
        </p:nvSpPr>
        <p:spPr>
          <a:xfrm>
            <a:off x="1234878" y="923866"/>
            <a:ext cx="14462322"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Relationship between Rating, Sales and Price</a:t>
            </a:r>
          </a:p>
        </p:txBody>
      </p:sp>
      <p:sp>
        <p:nvSpPr>
          <p:cNvPr id="41" name="TextBox 40">
            <a:extLst>
              <a:ext uri="{FF2B5EF4-FFF2-40B4-BE49-F238E27FC236}">
                <a16:creationId xmlns:a16="http://schemas.microsoft.com/office/drawing/2014/main" id="{3F458C4C-4688-9AB2-A41A-6AA66D40A0B7}"/>
              </a:ext>
            </a:extLst>
          </p:cNvPr>
          <p:cNvSpPr txBox="1"/>
          <p:nvPr/>
        </p:nvSpPr>
        <p:spPr>
          <a:xfrm>
            <a:off x="10582275" y="4000500"/>
            <a:ext cx="6677025" cy="3785652"/>
          </a:xfrm>
          <a:prstGeom prst="rect">
            <a:avLst/>
          </a:prstGeom>
          <a:noFill/>
        </p:spPr>
        <p:txBody>
          <a:bodyPr wrap="square" rtlCol="0">
            <a:spAutoFit/>
          </a:bodyPr>
          <a:lstStyle/>
          <a:p>
            <a:r>
              <a:rPr lang="en-IN" sz="2400" b="1" dirty="0">
                <a:latin typeface="+mj-lt"/>
              </a:rPr>
              <a:t>Insights:</a:t>
            </a:r>
          </a:p>
          <a:p>
            <a:pPr lvl="0" eaLnBrk="0" fontAlgn="base" hangingPunct="0">
              <a:spcBef>
                <a:spcPct val="0"/>
              </a:spcBef>
              <a:spcAft>
                <a:spcPct val="0"/>
              </a:spcAft>
            </a:pPr>
            <a:endParaRPr lang="en-US" altLang="en-US" sz="2400" dirty="0">
              <a:latin typeface="+mj-lt"/>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mj-lt"/>
              </a:rPr>
              <a:t>Products with high ratings and moderate prices achieve the highest sales. </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mj-lt"/>
              </a:rPr>
              <a:t>Extremely high-priced products show lower sales volume. </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mj-lt"/>
              </a:rPr>
              <a:t>The optimal product strategy combines good quality with reasonable pricing. </a:t>
            </a:r>
          </a:p>
          <a:p>
            <a:endParaRPr lang="en-IN" sz="2400" dirty="0">
              <a:latin typeface="+mj-lt"/>
            </a:endParaRPr>
          </a:p>
          <a:p>
            <a:pPr marL="285750" indent="-285750">
              <a:buFont typeface="Arial" panose="020B0604020202020204" pitchFamily="34" charset="0"/>
              <a:buChar char="•"/>
            </a:pPr>
            <a:endParaRPr lang="en-IN" sz="2400" dirty="0">
              <a:latin typeface="+mj-lt"/>
            </a:endParaRPr>
          </a:p>
        </p:txBody>
      </p:sp>
      <p:pic>
        <p:nvPicPr>
          <p:cNvPr id="3" name="Picture 2">
            <a:extLst>
              <a:ext uri="{FF2B5EF4-FFF2-40B4-BE49-F238E27FC236}">
                <a16:creationId xmlns:a16="http://schemas.microsoft.com/office/drawing/2014/main" id="{F12EAE5A-2310-480E-A9A4-83566C1A78A1}"/>
              </a:ext>
            </a:extLst>
          </p:cNvPr>
          <p:cNvPicPr>
            <a:picLocks noChangeAspect="1"/>
          </p:cNvPicPr>
          <p:nvPr/>
        </p:nvPicPr>
        <p:blipFill>
          <a:blip r:embed="rId4"/>
          <a:stretch>
            <a:fillRect/>
          </a:stretch>
        </p:blipFill>
        <p:spPr>
          <a:xfrm>
            <a:off x="762000" y="3083991"/>
            <a:ext cx="9588320" cy="5884130"/>
          </a:xfrm>
          <a:prstGeom prst="rect">
            <a:avLst/>
          </a:prstGeom>
        </p:spPr>
      </p:pic>
    </p:spTree>
    <p:extLst>
      <p:ext uri="{BB962C8B-B14F-4D97-AF65-F5344CB8AC3E}">
        <p14:creationId xmlns:p14="http://schemas.microsoft.com/office/powerpoint/2010/main" val="3479558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8F2B6-C21B-EC6E-C5AF-B57FBD05A66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01AA2D-1617-E950-BBF2-F7DC3C3D823A}"/>
              </a:ext>
            </a:extLst>
          </p:cNvPr>
          <p:cNvSpPr/>
          <p:nvPr/>
        </p:nvSpPr>
        <p:spPr>
          <a:xfrm>
            <a:off x="15108544" y="8862483"/>
            <a:ext cx="1126586" cy="1126586"/>
          </a:xfrm>
          <a:custGeom>
            <a:avLst/>
            <a:gdLst/>
            <a:ahLst/>
            <a:cxnLst/>
            <a:rect l="l" t="t" r="r" b="b"/>
            <a:pathLst>
              <a:path w="1126586" h="1126586">
                <a:moveTo>
                  <a:pt x="0" y="0"/>
                </a:moveTo>
                <a:lnTo>
                  <a:pt x="1126586" y="0"/>
                </a:lnTo>
                <a:lnTo>
                  <a:pt x="1126586" y="1126585"/>
                </a:lnTo>
                <a:lnTo>
                  <a:pt x="0" y="112658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1" name="Freeform 11">
            <a:extLst>
              <a:ext uri="{FF2B5EF4-FFF2-40B4-BE49-F238E27FC236}">
                <a16:creationId xmlns:a16="http://schemas.microsoft.com/office/drawing/2014/main" id="{1DCFDCBD-9332-3CF6-209C-2645B14FF811}"/>
              </a:ext>
            </a:extLst>
          </p:cNvPr>
          <p:cNvSpPr/>
          <p:nvPr/>
        </p:nvSpPr>
        <p:spPr>
          <a:xfrm>
            <a:off x="12265976" y="-635274"/>
            <a:ext cx="3702129" cy="3614624"/>
          </a:xfrm>
          <a:custGeom>
            <a:avLst/>
            <a:gdLst/>
            <a:ahLst/>
            <a:cxnLst/>
            <a:rect l="l" t="t" r="r" b="b"/>
            <a:pathLst>
              <a:path w="3702129" h="3614624">
                <a:moveTo>
                  <a:pt x="0" y="0"/>
                </a:moveTo>
                <a:lnTo>
                  <a:pt x="3702129" y="0"/>
                </a:lnTo>
                <a:lnTo>
                  <a:pt x="3702129" y="3614624"/>
                </a:lnTo>
                <a:lnTo>
                  <a:pt x="0" y="3614624"/>
                </a:lnTo>
                <a:lnTo>
                  <a:pt x="0" y="0"/>
                </a:lnTo>
                <a:close/>
              </a:path>
            </a:pathLst>
          </a:custGeom>
          <a:blipFill>
            <a:blip>
              <a:alphaModFix amt="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0E70DFC1-35AF-4DF3-F6EF-A6DBFBAEEB0C}"/>
              </a:ext>
            </a:extLst>
          </p:cNvPr>
          <p:cNvSpPr/>
          <p:nvPr/>
        </p:nvSpPr>
        <p:spPr>
          <a:xfrm>
            <a:off x="8568407" y="9164718"/>
            <a:ext cx="714448" cy="181477"/>
          </a:xfrm>
          <a:custGeom>
            <a:avLst/>
            <a:gdLst/>
            <a:ahLst/>
            <a:cxnLst/>
            <a:rect l="l" t="t" r="r" b="b"/>
            <a:pathLst>
              <a:path w="714448" h="181477">
                <a:moveTo>
                  <a:pt x="0" y="0"/>
                </a:moveTo>
                <a:lnTo>
                  <a:pt x="714447" y="0"/>
                </a:lnTo>
                <a:lnTo>
                  <a:pt x="714447" y="181477"/>
                </a:lnTo>
                <a:lnTo>
                  <a:pt x="0" y="1814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7" name="AutoShape 17">
            <a:extLst>
              <a:ext uri="{FF2B5EF4-FFF2-40B4-BE49-F238E27FC236}">
                <a16:creationId xmlns:a16="http://schemas.microsoft.com/office/drawing/2014/main" id="{49A441AA-41CA-81D2-A868-5924A1454337}"/>
              </a:ext>
            </a:extLst>
          </p:cNvPr>
          <p:cNvSpPr/>
          <p:nvPr/>
        </p:nvSpPr>
        <p:spPr>
          <a:xfrm>
            <a:off x="5210760" y="9236406"/>
            <a:ext cx="3200231" cy="0"/>
          </a:xfrm>
          <a:prstGeom prst="line">
            <a:avLst/>
          </a:prstGeom>
          <a:ln w="38100" cap="flat">
            <a:solidFill>
              <a:srgbClr val="FFFFFF"/>
            </a:solidFill>
            <a:prstDash val="solid"/>
            <a:headEnd type="none" w="sm" len="sm"/>
            <a:tailEnd type="none" w="sm" len="sm"/>
          </a:ln>
        </p:spPr>
        <p:txBody>
          <a:bodyPr/>
          <a:lstStyle/>
          <a:p>
            <a:endParaRPr lang="en-IN"/>
          </a:p>
        </p:txBody>
      </p:sp>
      <p:sp>
        <p:nvSpPr>
          <p:cNvPr id="18" name="AutoShape 18">
            <a:extLst>
              <a:ext uri="{FF2B5EF4-FFF2-40B4-BE49-F238E27FC236}">
                <a16:creationId xmlns:a16="http://schemas.microsoft.com/office/drawing/2014/main" id="{D8D987F6-A796-052E-D2B3-ECDADC8928E9}"/>
              </a:ext>
            </a:extLst>
          </p:cNvPr>
          <p:cNvSpPr/>
          <p:nvPr/>
        </p:nvSpPr>
        <p:spPr>
          <a:xfrm>
            <a:off x="9444779" y="9217356"/>
            <a:ext cx="3356821" cy="0"/>
          </a:xfrm>
          <a:prstGeom prst="line">
            <a:avLst/>
          </a:prstGeom>
          <a:ln w="38100" cap="flat">
            <a:solidFill>
              <a:srgbClr val="FFFFFF"/>
            </a:solidFill>
            <a:prstDash val="solid"/>
            <a:headEnd type="none" w="sm" len="sm"/>
            <a:tailEnd type="none" w="sm" len="sm"/>
          </a:ln>
        </p:spPr>
        <p:txBody>
          <a:bodyPr/>
          <a:lstStyle/>
          <a:p>
            <a:endParaRPr lang="en-IN"/>
          </a:p>
        </p:txBody>
      </p:sp>
      <p:sp>
        <p:nvSpPr>
          <p:cNvPr id="20" name="TextBox 20">
            <a:extLst>
              <a:ext uri="{FF2B5EF4-FFF2-40B4-BE49-F238E27FC236}">
                <a16:creationId xmlns:a16="http://schemas.microsoft.com/office/drawing/2014/main" id="{6A8BAB01-91FB-9FAD-544F-5BED6BE1E21E}"/>
              </a:ext>
            </a:extLst>
          </p:cNvPr>
          <p:cNvSpPr txBox="1"/>
          <p:nvPr/>
        </p:nvSpPr>
        <p:spPr>
          <a:xfrm>
            <a:off x="1143000" y="1189687"/>
            <a:ext cx="14268287"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Key Insights and Findings</a:t>
            </a:r>
          </a:p>
        </p:txBody>
      </p:sp>
      <p:sp>
        <p:nvSpPr>
          <p:cNvPr id="23" name="TextBox 23">
            <a:extLst>
              <a:ext uri="{FF2B5EF4-FFF2-40B4-BE49-F238E27FC236}">
                <a16:creationId xmlns:a16="http://schemas.microsoft.com/office/drawing/2014/main" id="{AB1641EC-D093-4D96-D971-EC2C3E662569}"/>
              </a:ext>
            </a:extLst>
          </p:cNvPr>
          <p:cNvSpPr txBox="1"/>
          <p:nvPr/>
        </p:nvSpPr>
        <p:spPr>
          <a:xfrm>
            <a:off x="1600200" y="3312577"/>
            <a:ext cx="15468600" cy="359073"/>
          </a:xfrm>
          <a:prstGeom prst="rect">
            <a:avLst/>
          </a:prstGeom>
        </p:spPr>
        <p:txBody>
          <a:bodyPr wrap="square" lIns="0" tIns="0" rIns="0" bIns="0" rtlCol="0" anchor="t">
            <a:spAutoFit/>
          </a:bodyPr>
          <a:lstStyle/>
          <a:p>
            <a:pPr>
              <a:lnSpc>
                <a:spcPts val="2800"/>
              </a:lnSpc>
            </a:pPr>
            <a:endParaRPr lang="en-US" sz="2400" dirty="0">
              <a:solidFill>
                <a:srgbClr val="000000"/>
              </a:solidFill>
              <a:ea typeface="TT Firs Neue"/>
              <a:cs typeface="TT Firs Neue"/>
              <a:sym typeface="TT Firs Neue"/>
            </a:endParaRPr>
          </a:p>
        </p:txBody>
      </p:sp>
      <p:sp>
        <p:nvSpPr>
          <p:cNvPr id="30" name="AutoShape 3">
            <a:extLst>
              <a:ext uri="{FF2B5EF4-FFF2-40B4-BE49-F238E27FC236}">
                <a16:creationId xmlns:a16="http://schemas.microsoft.com/office/drawing/2014/main" id="{CD7C502F-1DF8-D8A8-5476-8AF0CD0509D7}"/>
              </a:ext>
            </a:extLst>
          </p:cNvPr>
          <p:cNvSpPr/>
          <p:nvPr/>
        </p:nvSpPr>
        <p:spPr>
          <a:xfrm>
            <a:off x="1143000" y="2324100"/>
            <a:ext cx="6535153" cy="0"/>
          </a:xfrm>
          <a:prstGeom prst="line">
            <a:avLst/>
          </a:prstGeom>
          <a:ln w="38100" cap="flat">
            <a:solidFill>
              <a:srgbClr val="7361BA"/>
            </a:solidFill>
            <a:prstDash val="solid"/>
            <a:headEnd type="none" w="sm" len="sm"/>
            <a:tailEnd type="none" w="sm" len="sm"/>
          </a:ln>
        </p:spPr>
        <p:txBody>
          <a:bodyPr/>
          <a:lstStyle/>
          <a:p>
            <a:endParaRPr lang="en-IN" dirty="0">
              <a:latin typeface="+mj-lt"/>
            </a:endParaRPr>
          </a:p>
        </p:txBody>
      </p:sp>
      <p:sp>
        <p:nvSpPr>
          <p:cNvPr id="3" name="TextBox 2">
            <a:extLst>
              <a:ext uri="{FF2B5EF4-FFF2-40B4-BE49-F238E27FC236}">
                <a16:creationId xmlns:a16="http://schemas.microsoft.com/office/drawing/2014/main" id="{AEED835C-2C1D-0B9A-2F8C-D58E5EE81D5E}"/>
              </a:ext>
            </a:extLst>
          </p:cNvPr>
          <p:cNvSpPr txBox="1"/>
          <p:nvPr/>
        </p:nvSpPr>
        <p:spPr>
          <a:xfrm>
            <a:off x="910306" y="2744755"/>
            <a:ext cx="16691894" cy="6001643"/>
          </a:xfrm>
          <a:prstGeom prst="rect">
            <a:avLst/>
          </a:prstGeom>
          <a:noFill/>
        </p:spPr>
        <p:txBody>
          <a:bodyPr wrap="square" rtlCol="0">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400" b="1" dirty="0">
                <a:latin typeface="+mj-lt"/>
              </a:rPr>
              <a:t>The “Sweet Spot” Pricing Strategy</a:t>
            </a:r>
          </a:p>
          <a:p>
            <a:pPr lvl="0" eaLnBrk="0" fontAlgn="base" hangingPunct="0">
              <a:spcBef>
                <a:spcPct val="0"/>
              </a:spcBef>
              <a:spcAft>
                <a:spcPct val="0"/>
              </a:spcAft>
            </a:pPr>
            <a:r>
              <a:rPr lang="en-US" altLang="en-US" sz="2400" dirty="0">
                <a:latin typeface="+mj-lt"/>
              </a:rPr>
              <a:t>     Highest sales are observed in average-priced products with ratings above 4.0 rather than only perfect 5-star products.</a:t>
            </a:r>
          </a:p>
          <a:p>
            <a:pPr lvl="0" eaLnBrk="0" fontAlgn="base" hangingPunct="0">
              <a:spcBef>
                <a:spcPct val="0"/>
              </a:spcBef>
              <a:spcAft>
                <a:spcPct val="0"/>
              </a:spcAft>
            </a:pPr>
            <a:endParaRPr lang="en-US" altLang="en-US" sz="2400" dirty="0">
              <a:latin typeface="+mj-lt"/>
            </a:endParaRPr>
          </a:p>
          <a:p>
            <a:pPr marL="342900" lvl="0" indent="-342900" eaLnBrk="0" fontAlgn="base" hangingPunct="0">
              <a:spcBef>
                <a:spcPct val="0"/>
              </a:spcBef>
              <a:spcAft>
                <a:spcPct val="0"/>
              </a:spcAft>
              <a:buFont typeface="Arial" panose="020B0604020202020204" pitchFamily="34" charset="0"/>
              <a:buChar char="•"/>
            </a:pPr>
            <a:r>
              <a:rPr lang="en-US" altLang="en-US" sz="2400" b="1" dirty="0">
                <a:latin typeface="+mj-lt"/>
              </a:rPr>
              <a:t>Impact of Recommendation Systems</a:t>
            </a:r>
          </a:p>
          <a:p>
            <a:pPr lvl="0" eaLnBrk="0" fontAlgn="base" hangingPunct="0">
              <a:spcBef>
                <a:spcPct val="0"/>
              </a:spcBef>
              <a:spcAft>
                <a:spcPct val="0"/>
              </a:spcAft>
            </a:pPr>
            <a:r>
              <a:rPr lang="en-US" altLang="en-US" sz="2400" dirty="0">
                <a:latin typeface="+mj-lt"/>
              </a:rPr>
              <a:t>     Recommended products show significantly higher sales velocity compared to non-recommended products.</a:t>
            </a:r>
          </a:p>
          <a:p>
            <a:pPr lvl="0" eaLnBrk="0" fontAlgn="base" hangingPunct="0">
              <a:spcBef>
                <a:spcPct val="0"/>
              </a:spcBef>
              <a:spcAft>
                <a:spcPct val="0"/>
              </a:spcAft>
            </a:pPr>
            <a:endParaRPr lang="en-US" altLang="en-US" sz="2400" dirty="0">
              <a:latin typeface="+mj-lt"/>
            </a:endParaRPr>
          </a:p>
          <a:p>
            <a:pPr marL="342900" lvl="0" indent="-342900" eaLnBrk="0" fontAlgn="base" hangingPunct="0">
              <a:spcBef>
                <a:spcPct val="0"/>
              </a:spcBef>
              <a:spcAft>
                <a:spcPct val="0"/>
              </a:spcAft>
              <a:buFont typeface="Arial" panose="020B0604020202020204" pitchFamily="34" charset="0"/>
              <a:buChar char="•"/>
            </a:pPr>
            <a:r>
              <a:rPr lang="en-US" altLang="en-US" sz="2400" b="1" dirty="0">
                <a:latin typeface="+mj-lt"/>
              </a:rPr>
              <a:t>Neutralizing the "Autumn Sales Cliff"</a:t>
            </a:r>
            <a:r>
              <a:rPr lang="en-US" altLang="en-US" sz="2400" dirty="0">
                <a:latin typeface="+mj-lt"/>
              </a:rPr>
              <a:t> </a:t>
            </a:r>
          </a:p>
          <a:p>
            <a:pPr lvl="0" eaLnBrk="0" fontAlgn="base" hangingPunct="0">
              <a:spcBef>
                <a:spcPct val="0"/>
              </a:spcBef>
              <a:spcAft>
                <a:spcPct val="0"/>
              </a:spcAft>
            </a:pPr>
            <a:r>
              <a:rPr lang="en-US" altLang="en-US" sz="2400" dirty="0">
                <a:latin typeface="+mj-lt"/>
              </a:rPr>
              <a:t>     A sharp decline in sales occurs during Autumn, mainly due to seasonal mismatch in product materials.</a:t>
            </a:r>
          </a:p>
          <a:p>
            <a:pPr lvl="0" eaLnBrk="0" fontAlgn="base" hangingPunct="0">
              <a:spcBef>
                <a:spcPct val="0"/>
              </a:spcBef>
              <a:spcAft>
                <a:spcPct val="0"/>
              </a:spcAft>
            </a:pPr>
            <a:endParaRPr lang="en-US" altLang="en-US" sz="2400" dirty="0">
              <a:latin typeface="+mj-lt"/>
            </a:endParaRPr>
          </a:p>
          <a:p>
            <a:pPr marL="342900" lvl="0" indent="-342900" eaLnBrk="0" fontAlgn="base" hangingPunct="0">
              <a:spcBef>
                <a:spcPct val="0"/>
              </a:spcBef>
              <a:spcAft>
                <a:spcPct val="0"/>
              </a:spcAft>
              <a:buFont typeface="Arial" panose="020B0604020202020204" pitchFamily="34" charset="0"/>
              <a:buChar char="•"/>
            </a:pPr>
            <a:r>
              <a:rPr lang="en-US" altLang="en-US" sz="2400" b="1" dirty="0">
                <a:latin typeface="+mj-lt"/>
              </a:rPr>
              <a:t>Importance of Product Materials</a:t>
            </a:r>
          </a:p>
          <a:p>
            <a:pPr lvl="0" eaLnBrk="0" fontAlgn="base" hangingPunct="0">
              <a:spcBef>
                <a:spcPct val="0"/>
              </a:spcBef>
              <a:spcAft>
                <a:spcPct val="0"/>
              </a:spcAft>
            </a:pPr>
            <a:r>
              <a:rPr lang="en-US" altLang="en-US" sz="2400" dirty="0">
                <a:latin typeface="+mj-lt"/>
              </a:rPr>
              <a:t>     Cotton, Polyester, and Chiffon are the top revenue-generating materials, but their success depends on proper seasonal alignment.</a:t>
            </a:r>
          </a:p>
          <a:p>
            <a:pPr lvl="0" eaLnBrk="0" fontAlgn="base" hangingPunct="0">
              <a:spcBef>
                <a:spcPct val="0"/>
              </a:spcBef>
              <a:spcAft>
                <a:spcPct val="0"/>
              </a:spcAft>
            </a:pPr>
            <a:endParaRPr lang="en-US" altLang="en-US" sz="2400" b="1" dirty="0">
              <a:latin typeface="+mj-lt"/>
            </a:endParaRPr>
          </a:p>
          <a:p>
            <a:pPr lvl="0" eaLnBrk="0" fontAlgn="base" hangingPunct="0">
              <a:spcBef>
                <a:spcPct val="0"/>
              </a:spcBef>
              <a:spcAft>
                <a:spcPct val="0"/>
              </a:spcAft>
            </a:pPr>
            <a:endParaRPr lang="en-US" altLang="en-US" sz="2400" b="1" dirty="0">
              <a:latin typeface="+mj-lt"/>
            </a:endParaRPr>
          </a:p>
          <a:p>
            <a:pPr marL="342900" lvl="0" indent="-342900" eaLnBrk="0" fontAlgn="base" hangingPunct="0">
              <a:spcBef>
                <a:spcPct val="0"/>
              </a:spcBef>
              <a:spcAft>
                <a:spcPct val="0"/>
              </a:spcAft>
              <a:buFont typeface="Arial" panose="020B0604020202020204" pitchFamily="34" charset="0"/>
              <a:buChar char="•"/>
            </a:pPr>
            <a:endParaRPr lang="en-US" altLang="en-US" sz="2400" dirty="0">
              <a:latin typeface="+mj-lt"/>
            </a:endParaRPr>
          </a:p>
          <a:p>
            <a:endParaRPr lang="en-IN" sz="2400" dirty="0">
              <a:latin typeface="+mj-lt"/>
            </a:endParaRPr>
          </a:p>
          <a:p>
            <a:endParaRPr lang="en-IN" sz="2400" dirty="0">
              <a:latin typeface="+mj-lt"/>
            </a:endParaRPr>
          </a:p>
        </p:txBody>
      </p:sp>
    </p:spTree>
    <p:extLst>
      <p:ext uri="{BB962C8B-B14F-4D97-AF65-F5344CB8AC3E}">
        <p14:creationId xmlns:p14="http://schemas.microsoft.com/office/powerpoint/2010/main" val="2277335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8F93C-7557-5843-BF05-AD7C540D9B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EA8737D-E3C8-ADB6-EB76-BC54AD319AB5}"/>
              </a:ext>
            </a:extLst>
          </p:cNvPr>
          <p:cNvSpPr/>
          <p:nvPr/>
        </p:nvSpPr>
        <p:spPr>
          <a:xfrm>
            <a:off x="15108544" y="8862483"/>
            <a:ext cx="1126586" cy="1126586"/>
          </a:xfrm>
          <a:custGeom>
            <a:avLst/>
            <a:gdLst/>
            <a:ahLst/>
            <a:cxnLst/>
            <a:rect l="l" t="t" r="r" b="b"/>
            <a:pathLst>
              <a:path w="1126586" h="1126586">
                <a:moveTo>
                  <a:pt x="0" y="0"/>
                </a:moveTo>
                <a:lnTo>
                  <a:pt x="1126586" y="0"/>
                </a:lnTo>
                <a:lnTo>
                  <a:pt x="1126586" y="1126585"/>
                </a:lnTo>
                <a:lnTo>
                  <a:pt x="0" y="112658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1" name="Freeform 11">
            <a:extLst>
              <a:ext uri="{FF2B5EF4-FFF2-40B4-BE49-F238E27FC236}">
                <a16:creationId xmlns:a16="http://schemas.microsoft.com/office/drawing/2014/main" id="{3984AEDC-C39C-09A8-B367-4C3144079336}"/>
              </a:ext>
            </a:extLst>
          </p:cNvPr>
          <p:cNvSpPr/>
          <p:nvPr/>
        </p:nvSpPr>
        <p:spPr>
          <a:xfrm>
            <a:off x="12265976" y="-635274"/>
            <a:ext cx="3702129" cy="3614624"/>
          </a:xfrm>
          <a:custGeom>
            <a:avLst/>
            <a:gdLst/>
            <a:ahLst/>
            <a:cxnLst/>
            <a:rect l="l" t="t" r="r" b="b"/>
            <a:pathLst>
              <a:path w="3702129" h="3614624">
                <a:moveTo>
                  <a:pt x="0" y="0"/>
                </a:moveTo>
                <a:lnTo>
                  <a:pt x="3702129" y="0"/>
                </a:lnTo>
                <a:lnTo>
                  <a:pt x="3702129" y="3614624"/>
                </a:lnTo>
                <a:lnTo>
                  <a:pt x="0" y="3614624"/>
                </a:lnTo>
                <a:lnTo>
                  <a:pt x="0" y="0"/>
                </a:lnTo>
                <a:close/>
              </a:path>
            </a:pathLst>
          </a:custGeom>
          <a:blipFill>
            <a:blip>
              <a:alphaModFix amt="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B6088A7C-2B32-0AF0-6661-4F2CD26E1C6C}"/>
              </a:ext>
            </a:extLst>
          </p:cNvPr>
          <p:cNvSpPr/>
          <p:nvPr/>
        </p:nvSpPr>
        <p:spPr>
          <a:xfrm>
            <a:off x="8568407" y="9164718"/>
            <a:ext cx="714448" cy="181477"/>
          </a:xfrm>
          <a:custGeom>
            <a:avLst/>
            <a:gdLst/>
            <a:ahLst/>
            <a:cxnLst/>
            <a:rect l="l" t="t" r="r" b="b"/>
            <a:pathLst>
              <a:path w="714448" h="181477">
                <a:moveTo>
                  <a:pt x="0" y="0"/>
                </a:moveTo>
                <a:lnTo>
                  <a:pt x="714447" y="0"/>
                </a:lnTo>
                <a:lnTo>
                  <a:pt x="714447" y="181477"/>
                </a:lnTo>
                <a:lnTo>
                  <a:pt x="0" y="1814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7" name="AutoShape 17">
            <a:extLst>
              <a:ext uri="{FF2B5EF4-FFF2-40B4-BE49-F238E27FC236}">
                <a16:creationId xmlns:a16="http://schemas.microsoft.com/office/drawing/2014/main" id="{5914FB91-27A0-0AE7-17BD-E502D94B6495}"/>
              </a:ext>
            </a:extLst>
          </p:cNvPr>
          <p:cNvSpPr/>
          <p:nvPr/>
        </p:nvSpPr>
        <p:spPr>
          <a:xfrm>
            <a:off x="5210760" y="9236406"/>
            <a:ext cx="3200231" cy="0"/>
          </a:xfrm>
          <a:prstGeom prst="line">
            <a:avLst/>
          </a:prstGeom>
          <a:ln w="38100" cap="flat">
            <a:solidFill>
              <a:srgbClr val="FFFFFF"/>
            </a:solidFill>
            <a:prstDash val="solid"/>
            <a:headEnd type="none" w="sm" len="sm"/>
            <a:tailEnd type="none" w="sm" len="sm"/>
          </a:ln>
        </p:spPr>
        <p:txBody>
          <a:bodyPr/>
          <a:lstStyle/>
          <a:p>
            <a:endParaRPr lang="en-IN"/>
          </a:p>
        </p:txBody>
      </p:sp>
      <p:sp>
        <p:nvSpPr>
          <p:cNvPr id="18" name="AutoShape 18">
            <a:extLst>
              <a:ext uri="{FF2B5EF4-FFF2-40B4-BE49-F238E27FC236}">
                <a16:creationId xmlns:a16="http://schemas.microsoft.com/office/drawing/2014/main" id="{7ED17DA3-E4F5-A348-0FDA-DA8144A22769}"/>
              </a:ext>
            </a:extLst>
          </p:cNvPr>
          <p:cNvSpPr/>
          <p:nvPr/>
        </p:nvSpPr>
        <p:spPr>
          <a:xfrm>
            <a:off x="9444779" y="9217356"/>
            <a:ext cx="3356821" cy="0"/>
          </a:xfrm>
          <a:prstGeom prst="line">
            <a:avLst/>
          </a:prstGeom>
          <a:ln w="38100" cap="flat">
            <a:solidFill>
              <a:srgbClr val="FFFFFF"/>
            </a:solidFill>
            <a:prstDash val="solid"/>
            <a:headEnd type="none" w="sm" len="sm"/>
            <a:tailEnd type="none" w="sm" len="sm"/>
          </a:ln>
        </p:spPr>
        <p:txBody>
          <a:bodyPr/>
          <a:lstStyle/>
          <a:p>
            <a:endParaRPr lang="en-IN"/>
          </a:p>
        </p:txBody>
      </p:sp>
      <p:sp>
        <p:nvSpPr>
          <p:cNvPr id="20" name="TextBox 20">
            <a:extLst>
              <a:ext uri="{FF2B5EF4-FFF2-40B4-BE49-F238E27FC236}">
                <a16:creationId xmlns:a16="http://schemas.microsoft.com/office/drawing/2014/main" id="{91D99DC4-C439-4297-4FF5-5C8FB32ACF93}"/>
              </a:ext>
            </a:extLst>
          </p:cNvPr>
          <p:cNvSpPr txBox="1"/>
          <p:nvPr/>
        </p:nvSpPr>
        <p:spPr>
          <a:xfrm>
            <a:off x="1400138" y="986482"/>
            <a:ext cx="14268287" cy="884216"/>
          </a:xfrm>
          <a:prstGeom prst="rect">
            <a:avLst/>
          </a:prstGeom>
        </p:spPr>
        <p:txBody>
          <a:bodyPr wrap="square" lIns="0" tIns="0" rIns="0" bIns="0" rtlCol="0" anchor="t">
            <a:spAutoFit/>
          </a:bodyPr>
          <a:lstStyle/>
          <a:p>
            <a:pPr algn="l">
              <a:lnSpc>
                <a:spcPts val="6800"/>
              </a:lnSpc>
            </a:pPr>
            <a:r>
              <a:rPr lang="en-US" sz="6800" b="1" spc="-374" dirty="0">
                <a:solidFill>
                  <a:srgbClr val="000000"/>
                </a:solidFill>
                <a:latin typeface="+mj-lt"/>
                <a:ea typeface="Heading Now 71-78"/>
                <a:cs typeface="Heading Now 71-78"/>
                <a:sym typeface="Heading Now 71-78"/>
              </a:rPr>
              <a:t>Conclusion</a:t>
            </a:r>
          </a:p>
        </p:txBody>
      </p:sp>
      <p:sp>
        <p:nvSpPr>
          <p:cNvPr id="23" name="TextBox 23">
            <a:extLst>
              <a:ext uri="{FF2B5EF4-FFF2-40B4-BE49-F238E27FC236}">
                <a16:creationId xmlns:a16="http://schemas.microsoft.com/office/drawing/2014/main" id="{3FFA09D0-8419-258D-2FF7-ED41CBF1E363}"/>
              </a:ext>
            </a:extLst>
          </p:cNvPr>
          <p:cNvSpPr txBox="1"/>
          <p:nvPr/>
        </p:nvSpPr>
        <p:spPr>
          <a:xfrm>
            <a:off x="1600200" y="3312577"/>
            <a:ext cx="15468600" cy="359073"/>
          </a:xfrm>
          <a:prstGeom prst="rect">
            <a:avLst/>
          </a:prstGeom>
        </p:spPr>
        <p:txBody>
          <a:bodyPr wrap="square" lIns="0" tIns="0" rIns="0" bIns="0" rtlCol="0" anchor="t">
            <a:spAutoFit/>
          </a:bodyPr>
          <a:lstStyle/>
          <a:p>
            <a:pPr>
              <a:lnSpc>
                <a:spcPts val="2800"/>
              </a:lnSpc>
            </a:pPr>
            <a:endParaRPr lang="en-US" sz="2400" dirty="0">
              <a:solidFill>
                <a:srgbClr val="000000"/>
              </a:solidFill>
              <a:ea typeface="TT Firs Neue"/>
              <a:cs typeface="TT Firs Neue"/>
              <a:sym typeface="TT Firs Neue"/>
            </a:endParaRPr>
          </a:p>
        </p:txBody>
      </p:sp>
      <p:sp>
        <p:nvSpPr>
          <p:cNvPr id="30" name="AutoShape 3">
            <a:extLst>
              <a:ext uri="{FF2B5EF4-FFF2-40B4-BE49-F238E27FC236}">
                <a16:creationId xmlns:a16="http://schemas.microsoft.com/office/drawing/2014/main" id="{850F4520-D4F8-D5AB-CFF7-42D276D1CB7A}"/>
              </a:ext>
            </a:extLst>
          </p:cNvPr>
          <p:cNvSpPr/>
          <p:nvPr/>
        </p:nvSpPr>
        <p:spPr>
          <a:xfrm>
            <a:off x="1400138" y="2015046"/>
            <a:ext cx="6535153" cy="0"/>
          </a:xfrm>
          <a:prstGeom prst="line">
            <a:avLst/>
          </a:prstGeom>
          <a:ln w="38100" cap="flat">
            <a:solidFill>
              <a:srgbClr val="7361BA"/>
            </a:solidFill>
            <a:prstDash val="solid"/>
            <a:headEnd type="none" w="sm" len="sm"/>
            <a:tailEnd type="none" w="sm" len="sm"/>
          </a:ln>
        </p:spPr>
        <p:txBody>
          <a:bodyPr/>
          <a:lstStyle/>
          <a:p>
            <a:endParaRPr lang="en-IN" dirty="0">
              <a:latin typeface="+mj-lt"/>
            </a:endParaRPr>
          </a:p>
        </p:txBody>
      </p:sp>
      <p:sp>
        <p:nvSpPr>
          <p:cNvPr id="3" name="TextBox 2">
            <a:extLst>
              <a:ext uri="{FF2B5EF4-FFF2-40B4-BE49-F238E27FC236}">
                <a16:creationId xmlns:a16="http://schemas.microsoft.com/office/drawing/2014/main" id="{F25925D8-F04A-37F7-55FE-02C8CB181744}"/>
              </a:ext>
            </a:extLst>
          </p:cNvPr>
          <p:cNvSpPr txBox="1"/>
          <p:nvPr/>
        </p:nvSpPr>
        <p:spPr>
          <a:xfrm>
            <a:off x="1219200" y="2367250"/>
            <a:ext cx="16078200" cy="5021055"/>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Ø"/>
            </a:pPr>
            <a:r>
              <a:rPr lang="en-IN" sz="2400" dirty="0">
                <a:latin typeface="+mj-lt"/>
              </a:rPr>
              <a:t>We can point out a </a:t>
            </a:r>
            <a:r>
              <a:rPr lang="en-US" sz="2400" b="1" u="sng" dirty="0">
                <a:latin typeface="+mj-lt"/>
              </a:rPr>
              <a:t>Retail Success Formula</a:t>
            </a:r>
          </a:p>
          <a:p>
            <a:pPr lvl="0" eaLnBrk="0" fontAlgn="base" hangingPunct="0">
              <a:lnSpc>
                <a:spcPct val="150000"/>
              </a:lnSpc>
              <a:spcBef>
                <a:spcPct val="0"/>
              </a:spcBef>
              <a:spcAft>
                <a:spcPct val="0"/>
              </a:spcAft>
            </a:pPr>
            <a:r>
              <a:rPr lang="en-US" sz="2400" dirty="0">
                <a:latin typeface="+mj-lt"/>
              </a:rPr>
              <a:t>      High Sales = Right Price + Good Rating + Strong Recommendation + Seasonal Alignment</a:t>
            </a:r>
          </a:p>
          <a:p>
            <a:pPr marL="800100" lvl="1" indent="-342900" eaLnBrk="0" fontAlgn="base" hangingPunct="0">
              <a:lnSpc>
                <a:spcPct val="150000"/>
              </a:lnSpc>
              <a:spcBef>
                <a:spcPct val="0"/>
              </a:spcBef>
              <a:spcAft>
                <a:spcPct val="0"/>
              </a:spcAft>
              <a:buFont typeface="Arial" panose="020B0604020202020204" pitchFamily="34" charset="0"/>
              <a:buChar char="•"/>
            </a:pPr>
            <a:r>
              <a:rPr lang="en-US" sz="2400" dirty="0">
                <a:latin typeface="+mj-lt"/>
              </a:rPr>
              <a:t>Average Pricing Strategy: Products priced in the mid-range attract the highest number of buyers.</a:t>
            </a:r>
          </a:p>
          <a:p>
            <a:pPr marL="800100" lvl="1" indent="-342900" eaLnBrk="0" fontAlgn="base" hangingPunct="0">
              <a:lnSpc>
                <a:spcPct val="150000"/>
              </a:lnSpc>
              <a:spcBef>
                <a:spcPct val="0"/>
              </a:spcBef>
              <a:spcAft>
                <a:spcPct val="0"/>
              </a:spcAft>
              <a:buFont typeface="Arial" panose="020B0604020202020204" pitchFamily="34" charset="0"/>
              <a:buChar char="•"/>
            </a:pPr>
            <a:r>
              <a:rPr lang="en-US" sz="2400" dirty="0">
                <a:latin typeface="+mj-lt"/>
              </a:rPr>
              <a:t>Good Ratings Matter: Items with ratings above 4.0 tend to gain customer trust and sell better.</a:t>
            </a:r>
          </a:p>
          <a:p>
            <a:pPr marL="800100" lvl="1" indent="-342900" eaLnBrk="0" fontAlgn="base" hangingPunct="0">
              <a:lnSpc>
                <a:spcPct val="150000"/>
              </a:lnSpc>
              <a:spcBef>
                <a:spcPct val="0"/>
              </a:spcBef>
              <a:spcAft>
                <a:spcPct val="0"/>
              </a:spcAft>
              <a:buFont typeface="Arial" panose="020B0604020202020204" pitchFamily="34" charset="0"/>
              <a:buChar char="•"/>
            </a:pPr>
            <a:r>
              <a:rPr lang="en-US" sz="2400" dirty="0">
                <a:latin typeface="+mj-lt"/>
              </a:rPr>
              <a:t>Recommendation Visibility: Recommended products achieve higher sales due to increased platform visibility.</a:t>
            </a:r>
          </a:p>
          <a:p>
            <a:pPr marL="800100" lvl="1" indent="-342900" eaLnBrk="0" fontAlgn="base" hangingPunct="0">
              <a:lnSpc>
                <a:spcPct val="150000"/>
              </a:lnSpc>
              <a:spcBef>
                <a:spcPct val="0"/>
              </a:spcBef>
              <a:spcAft>
                <a:spcPct val="0"/>
              </a:spcAft>
              <a:buFont typeface="Arial" panose="020B0604020202020204" pitchFamily="34" charset="0"/>
              <a:buChar char="•"/>
            </a:pPr>
            <a:r>
              <a:rPr lang="en-US" sz="2400" dirty="0">
                <a:latin typeface="+mj-lt"/>
              </a:rPr>
              <a:t>Seasonal Product Alignment: Matching product materials and styles with seasonal demand improves sales performance.</a:t>
            </a:r>
          </a:p>
          <a:p>
            <a:pPr marL="342900" lvl="0" indent="-342900" eaLnBrk="0" fontAlgn="base" hangingPunct="0">
              <a:lnSpc>
                <a:spcPct val="150000"/>
              </a:lnSpc>
              <a:spcBef>
                <a:spcPct val="0"/>
              </a:spcBef>
              <a:spcAft>
                <a:spcPct val="0"/>
              </a:spcAft>
              <a:buFont typeface="Arial" panose="020B0604020202020204" pitchFamily="34" charset="0"/>
              <a:buChar char="•"/>
            </a:pPr>
            <a:endParaRPr lang="en-US" sz="2400" dirty="0">
              <a:latin typeface="+mj-lt"/>
            </a:endParaRP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sz="2400" dirty="0"/>
              <a:t>Then, retailers can make better inventory decisions, improve product recommendations, and ultimately maximize profitability.</a:t>
            </a:r>
          </a:p>
        </p:txBody>
      </p:sp>
    </p:spTree>
    <p:extLst>
      <p:ext uri="{BB962C8B-B14F-4D97-AF65-F5344CB8AC3E}">
        <p14:creationId xmlns:p14="http://schemas.microsoft.com/office/powerpoint/2010/main" val="3648160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592320"/>
            <a:ext cx="7846098" cy="7974489"/>
          </a:xfrm>
          <a:custGeom>
            <a:avLst/>
            <a:gdLst/>
            <a:ahLst/>
            <a:cxnLst/>
            <a:rect l="l" t="t" r="r" b="b"/>
            <a:pathLst>
              <a:path w="7846098" h="7974489">
                <a:moveTo>
                  <a:pt x="0" y="0"/>
                </a:moveTo>
                <a:lnTo>
                  <a:pt x="7846098" y="0"/>
                </a:lnTo>
                <a:lnTo>
                  <a:pt x="7846098" y="7974489"/>
                </a:lnTo>
                <a:lnTo>
                  <a:pt x="0" y="7974489"/>
                </a:lnTo>
                <a:lnTo>
                  <a:pt x="0" y="0"/>
                </a:lnTo>
                <a:close/>
              </a:path>
            </a:pathLst>
          </a:custGeom>
          <a:blipFill>
            <a:blip>
              <a:alphaModFix amt="5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6580734" y="8831782"/>
            <a:ext cx="1232341" cy="1625390"/>
          </a:xfrm>
          <a:custGeom>
            <a:avLst/>
            <a:gdLst/>
            <a:ahLst/>
            <a:cxnLst/>
            <a:rect l="l" t="t" r="r" b="b"/>
            <a:pathLst>
              <a:path w="1232341" h="1625390">
                <a:moveTo>
                  <a:pt x="0" y="0"/>
                </a:moveTo>
                <a:lnTo>
                  <a:pt x="1232341" y="0"/>
                </a:lnTo>
                <a:lnTo>
                  <a:pt x="1232341" y="1625390"/>
                </a:lnTo>
                <a:lnTo>
                  <a:pt x="0" y="162539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AutoShape 7"/>
          <p:cNvSpPr/>
          <p:nvPr/>
        </p:nvSpPr>
        <p:spPr>
          <a:xfrm>
            <a:off x="-439506" y="1534752"/>
            <a:ext cx="6278823" cy="0"/>
          </a:xfrm>
          <a:prstGeom prst="line">
            <a:avLst/>
          </a:prstGeom>
          <a:ln w="38100" cap="rnd">
            <a:solidFill>
              <a:srgbClr val="FFFFFF"/>
            </a:solidFill>
            <a:prstDash val="solid"/>
            <a:headEnd type="none" w="sm" len="sm"/>
            <a:tailEnd type="none" w="sm" len="sm"/>
          </a:ln>
        </p:spPr>
        <p:txBody>
          <a:bodyPr/>
          <a:lstStyle/>
          <a:p>
            <a:endParaRPr lang="en-IN"/>
          </a:p>
        </p:txBody>
      </p:sp>
      <p:sp>
        <p:nvSpPr>
          <p:cNvPr id="9" name="Freeform 9"/>
          <p:cNvSpPr/>
          <p:nvPr/>
        </p:nvSpPr>
        <p:spPr>
          <a:xfrm>
            <a:off x="14848777" y="-175073"/>
            <a:ext cx="3988043" cy="812111"/>
          </a:xfrm>
          <a:custGeom>
            <a:avLst/>
            <a:gdLst/>
            <a:ahLst/>
            <a:cxnLst/>
            <a:rect l="l" t="t" r="r" b="b"/>
            <a:pathLst>
              <a:path w="3988043" h="812111">
                <a:moveTo>
                  <a:pt x="0" y="0"/>
                </a:moveTo>
                <a:lnTo>
                  <a:pt x="3988043" y="0"/>
                </a:lnTo>
                <a:lnTo>
                  <a:pt x="3988043" y="812111"/>
                </a:lnTo>
                <a:lnTo>
                  <a:pt x="0" y="812111"/>
                </a:lnTo>
                <a:lnTo>
                  <a:pt x="0" y="0"/>
                </a:lnTo>
                <a:close/>
              </a:path>
            </a:pathLst>
          </a:custGeom>
          <a:blipFill>
            <a:blip>
              <a:alphaModFix amt="8999"/>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7" name="Freeform 17"/>
          <p:cNvSpPr/>
          <p:nvPr/>
        </p:nvSpPr>
        <p:spPr>
          <a:xfrm>
            <a:off x="10066586" y="-448664"/>
            <a:ext cx="1357133" cy="1789983"/>
          </a:xfrm>
          <a:custGeom>
            <a:avLst/>
            <a:gdLst/>
            <a:ahLst/>
            <a:cxnLst/>
            <a:rect l="l" t="t" r="r" b="b"/>
            <a:pathLst>
              <a:path w="1357133" h="1789983">
                <a:moveTo>
                  <a:pt x="0" y="0"/>
                </a:moveTo>
                <a:lnTo>
                  <a:pt x="1357133" y="0"/>
                </a:lnTo>
                <a:lnTo>
                  <a:pt x="1357133" y="1789983"/>
                </a:lnTo>
                <a:lnTo>
                  <a:pt x="0" y="17899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8" name="Freeform 18"/>
          <p:cNvSpPr/>
          <p:nvPr/>
        </p:nvSpPr>
        <p:spPr>
          <a:xfrm>
            <a:off x="13183446" y="7752189"/>
            <a:ext cx="714448" cy="181477"/>
          </a:xfrm>
          <a:custGeom>
            <a:avLst/>
            <a:gdLst/>
            <a:ahLst/>
            <a:cxnLst/>
            <a:rect l="l" t="t" r="r" b="b"/>
            <a:pathLst>
              <a:path w="714448" h="181477">
                <a:moveTo>
                  <a:pt x="0" y="0"/>
                </a:moveTo>
                <a:lnTo>
                  <a:pt x="714448" y="0"/>
                </a:lnTo>
                <a:lnTo>
                  <a:pt x="714448" y="181478"/>
                </a:lnTo>
                <a:lnTo>
                  <a:pt x="0" y="1814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9" name="AutoShape 19"/>
          <p:cNvSpPr/>
          <p:nvPr/>
        </p:nvSpPr>
        <p:spPr>
          <a:xfrm>
            <a:off x="10608037" y="7823878"/>
            <a:ext cx="2417993" cy="0"/>
          </a:xfrm>
          <a:prstGeom prst="line">
            <a:avLst/>
          </a:prstGeom>
          <a:ln w="38100" cap="flat">
            <a:solidFill>
              <a:srgbClr val="FFFFFF"/>
            </a:solidFill>
            <a:prstDash val="solid"/>
            <a:headEnd type="none" w="sm" len="sm"/>
            <a:tailEnd type="none" w="sm" len="sm"/>
          </a:ln>
        </p:spPr>
        <p:txBody>
          <a:bodyPr/>
          <a:lstStyle/>
          <a:p>
            <a:endParaRPr lang="en-IN"/>
          </a:p>
        </p:txBody>
      </p:sp>
      <p:sp>
        <p:nvSpPr>
          <p:cNvPr id="20" name="AutoShape 20"/>
          <p:cNvSpPr/>
          <p:nvPr/>
        </p:nvSpPr>
        <p:spPr>
          <a:xfrm>
            <a:off x="14059819" y="7804828"/>
            <a:ext cx="2417993" cy="0"/>
          </a:xfrm>
          <a:prstGeom prst="line">
            <a:avLst/>
          </a:prstGeom>
          <a:ln w="38100" cap="flat">
            <a:solidFill>
              <a:srgbClr val="FFFFFF"/>
            </a:solidFill>
            <a:prstDash val="solid"/>
            <a:headEnd type="none" w="sm" len="sm"/>
            <a:tailEnd type="none" w="sm" len="sm"/>
          </a:ln>
        </p:spPr>
        <p:txBody>
          <a:bodyPr/>
          <a:lstStyle/>
          <a:p>
            <a:endParaRPr lang="en-IN"/>
          </a:p>
        </p:txBody>
      </p:sp>
      <p:sp>
        <p:nvSpPr>
          <p:cNvPr id="27" name="TextBox 27"/>
          <p:cNvSpPr txBox="1"/>
          <p:nvPr/>
        </p:nvSpPr>
        <p:spPr>
          <a:xfrm>
            <a:off x="5730613" y="5143500"/>
            <a:ext cx="7452833" cy="1043363"/>
          </a:xfrm>
          <a:prstGeom prst="rect">
            <a:avLst/>
          </a:prstGeom>
        </p:spPr>
        <p:txBody>
          <a:bodyPr wrap="square" lIns="0" tIns="0" rIns="0" bIns="0" rtlCol="0" anchor="t">
            <a:spAutoFit/>
          </a:bodyPr>
          <a:lstStyle/>
          <a:p>
            <a:pPr algn="ctr">
              <a:lnSpc>
                <a:spcPts val="6800"/>
              </a:lnSpc>
            </a:pPr>
            <a:r>
              <a:rPr lang="en-US" sz="11500" spc="-374" dirty="0">
                <a:solidFill>
                  <a:srgbClr val="000000"/>
                </a:solidFill>
                <a:latin typeface="+mj-lt"/>
                <a:ea typeface="Heading Now 71-78"/>
                <a:cs typeface="Heading Now 71-78"/>
                <a:sym typeface="Heading Now 71-78"/>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5204</TotalTime>
  <Words>1263</Words>
  <Application>Microsoft Office PowerPoint</Application>
  <PresentationFormat>Custom</PresentationFormat>
  <Paragraphs>152</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Arial</vt:lpstr>
      <vt:lpstr>TT Firs Neue Bold</vt:lpstr>
      <vt:lpstr>Aptos</vt:lpstr>
      <vt:lpstr>TT Firs Neue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Smrithi P K</dc:title>
  <cp:lastModifiedBy>SMRITHI P K 2023</cp:lastModifiedBy>
  <cp:revision>55</cp:revision>
  <dcterms:created xsi:type="dcterms:W3CDTF">2006-08-16T00:00:00Z</dcterms:created>
  <dcterms:modified xsi:type="dcterms:W3CDTF">2026-04-07T12:52:35Z</dcterms:modified>
  <dc:identifier>DAHFfW0znCk</dc:identifier>
</cp:coreProperties>
</file>